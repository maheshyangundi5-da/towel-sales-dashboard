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9" d="100"/>
          <a:sy n="79" d="100"/>
        </p:scale>
        <p:origin x="610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1drv.ms/x/c/4491a36e8667ba59/IQDU9yiPwNDETabrJM9CuvT-AU2bT0B1--QIVidLqjsbkKg?e=44qC6V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G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Accent"/>
          <p:cNvSpPr/>
          <p:nvPr/>
        </p:nvSpPr>
        <p:spPr>
          <a:xfrm>
            <a:off x="686000" y="2030000"/>
            <a:ext cx="900000" cy="60000"/>
          </a:xfrm>
          <a:prstGeom prst="rect">
            <a:avLst/>
          </a:prstGeom>
          <a:solidFill>
            <a:srgbClr val="4BACC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Eyebrow"/>
          <p:cNvSpPr txBox="1"/>
          <p:nvPr/>
        </p:nvSpPr>
        <p:spPr>
          <a:xfrm>
            <a:off x="686000" y="1430000"/>
            <a:ext cx="7772000" cy="43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1500" b="1" spc="300">
                <a:solidFill>
                  <a:srgbClr val="9DC3E6"/>
                </a:solidFill>
              </a:rPr>
              <a:t>TOWEL SALES  ·  FY 2026-27 GROWTH STRATEGY</a:t>
            </a:r>
          </a:p>
        </p:txBody>
      </p:sp>
      <p:sp>
        <p:nvSpPr>
          <p:cNvPr id="13" name="Title"/>
          <p:cNvSpPr txBox="1"/>
          <p:nvPr/>
        </p:nvSpPr>
        <p:spPr>
          <a:xfrm>
            <a:off x="686000" y="2210000"/>
            <a:ext cx="7772000" cy="15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5400" b="1">
                <a:solidFill>
                  <a:srgbClr val="FFFFFF"/>
                </a:solidFill>
              </a:rPr>
              <a:t>The Road to ₹50 Lakhs</a:t>
            </a:r>
          </a:p>
        </p:txBody>
      </p:sp>
      <p:sp>
        <p:nvSpPr>
          <p:cNvPr id="14" name="Subtitle"/>
          <p:cNvSpPr txBox="1"/>
          <p:nvPr/>
        </p:nvSpPr>
        <p:spPr>
          <a:xfrm>
            <a:off x="686000" y="3770000"/>
            <a:ext cx="7100000" cy="9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2000">
                <a:solidFill>
                  <a:srgbClr val="C6D9F0"/>
                </a:solidFill>
              </a:rPr>
              <a:t>Turning the 2023–2026 sales dashboard into 25 insights and a focused FY 2026-27 action plan</a:t>
            </a:r>
          </a:p>
        </p:txBody>
      </p:sp>
      <p:sp>
        <p:nvSpPr>
          <p:cNvPr id="15" name="StatBand"/>
          <p:cNvSpPr/>
          <p:nvPr/>
        </p:nvSpPr>
        <p:spPr>
          <a:xfrm>
            <a:off x="0" y="5430000"/>
            <a:ext cx="9144000" cy="1428000"/>
          </a:xfrm>
          <a:prstGeom prst="rect">
            <a:avLst/>
          </a:prstGeom>
          <a:solidFill>
            <a:srgbClr val="173A6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" name="Stat1"/>
          <p:cNvSpPr txBox="1"/>
          <p:nvPr/>
        </p:nvSpPr>
        <p:spPr>
          <a:xfrm>
            <a:off x="686000" y="5680000"/>
            <a:ext cx="2500000" cy="96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3200" b="1">
                <a:solidFill>
                  <a:srgbClr val="FFFFFF"/>
                </a:solidFill>
              </a:rPr>
              <a:t>₹1.82 Cr</a:t>
            </a:r>
          </a:p>
          <a:p>
            <a:r>
              <a:rPr lang="en-US" sz="1200">
                <a:solidFill>
                  <a:srgbClr val="9DC3E6"/>
                </a:solidFill>
              </a:rPr>
              <a:t>Total sales · 2023–2026</a:t>
            </a:r>
          </a:p>
        </p:txBody>
      </p:sp>
      <p:sp>
        <p:nvSpPr>
          <p:cNvPr id="17" name="Stat2"/>
          <p:cNvSpPr txBox="1"/>
          <p:nvPr/>
        </p:nvSpPr>
        <p:spPr>
          <a:xfrm>
            <a:off x="3550000" y="5680000"/>
            <a:ext cx="2500000" cy="96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3200" b="1">
                <a:solidFill>
                  <a:srgbClr val="FFFFFF"/>
                </a:solidFill>
              </a:rPr>
              <a:t>₹29,770</a:t>
            </a:r>
          </a:p>
          <a:p>
            <a:r>
              <a:rPr lang="en-US" sz="1200">
                <a:solidFill>
                  <a:srgbClr val="9DC3E6"/>
                </a:solidFill>
              </a:rPr>
              <a:t>Average sale value</a:t>
            </a:r>
          </a:p>
        </p:txBody>
      </p:sp>
      <p:sp>
        <p:nvSpPr>
          <p:cNvPr id="18" name="Stat3"/>
          <p:cNvSpPr txBox="1"/>
          <p:nvPr/>
        </p:nvSpPr>
        <p:spPr>
          <a:xfrm>
            <a:off x="6414000" y="5680000"/>
            <a:ext cx="2300000" cy="96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3200" b="1">
                <a:solidFill>
                  <a:srgbClr val="FFFFFF"/>
                </a:solidFill>
              </a:rPr>
              <a:t>612</a:t>
            </a:r>
          </a:p>
          <a:p>
            <a:r>
              <a:rPr lang="en-US" sz="1200">
                <a:solidFill>
                  <a:srgbClr val="9DC3E6"/>
                </a:solidFill>
              </a:rPr>
              <a:t>Invoices billed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Square"/>
          <p:cNvSpPr/>
          <p:nvPr/>
        </p:nvSpPr>
        <p:spPr>
          <a:xfrm>
            <a:off x="457200" y="470000"/>
            <a:ext cx="140000" cy="140000"/>
          </a:xfrm>
          <a:prstGeom prst="rect">
            <a:avLst/>
          </a:prstGeom>
          <a:solidFill>
            <a:srgbClr val="4BACC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" name="Title"/>
          <p:cNvSpPr txBox="1"/>
          <p:nvPr/>
        </p:nvSpPr>
        <p:spPr>
          <a:xfrm>
            <a:off x="700000" y="380000"/>
            <a:ext cx="7800000" cy="7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3200" b="1">
                <a:solidFill>
                  <a:srgbClr val="1F497D"/>
                </a:solidFill>
              </a:rPr>
              <a:t>Where We Stand Today</a:t>
            </a:r>
          </a:p>
        </p:txBody>
      </p:sp>
      <p:sp>
        <p:nvSpPr>
          <p:cNvPr id="30" name="Card1"/>
          <p:cNvSpPr/>
          <p:nvPr/>
        </p:nvSpPr>
        <p:spPr>
          <a:xfrm>
            <a:off x="457200" y="1300000"/>
            <a:ext cx="2610000" cy="1080000"/>
          </a:xfrm>
          <a:prstGeom prst="rect">
            <a:avLst/>
          </a:prstGeom>
          <a:solidFill>
            <a:srgbClr val="EAF1FA"/>
          </a:solidFill>
          <a:ln>
            <a:noFill/>
          </a:ln>
        </p:spPr>
        <p:txBody>
          <a:bodyPr wrap="square" lIns="180000" tIns="140000" rIns="120000" bIns="120000" anchor="t"/>
          <a:lstStyle/>
          <a:p>
            <a:r>
              <a:rPr lang="en-US" sz="3000" b="1">
                <a:solidFill>
                  <a:srgbClr val="1F497D"/>
                </a:solidFill>
              </a:rPr>
              <a:t>₹1.82 Cr</a:t>
            </a:r>
          </a:p>
          <a:p>
            <a:r>
              <a:rPr lang="en-US" sz="1300">
                <a:solidFill>
                  <a:srgbClr val="595959"/>
                </a:solidFill>
              </a:rPr>
              <a:t>Total sales · 2023–2026</a:t>
            </a:r>
          </a:p>
        </p:txBody>
      </p:sp>
      <p:sp>
        <p:nvSpPr>
          <p:cNvPr id="31" name="Card2"/>
          <p:cNvSpPr/>
          <p:nvPr/>
        </p:nvSpPr>
        <p:spPr>
          <a:xfrm>
            <a:off x="3267200" y="1300000"/>
            <a:ext cx="2610000" cy="1080000"/>
          </a:xfrm>
          <a:prstGeom prst="rect">
            <a:avLst/>
          </a:prstGeom>
          <a:solidFill>
            <a:srgbClr val="EAF1FA"/>
          </a:solidFill>
          <a:ln>
            <a:noFill/>
          </a:ln>
        </p:spPr>
        <p:txBody>
          <a:bodyPr wrap="square" lIns="180000" tIns="140000" rIns="120000" bIns="120000" anchor="t"/>
          <a:lstStyle/>
          <a:p>
            <a:r>
              <a:rPr lang="en-US" sz="3000" b="1">
                <a:solidFill>
                  <a:srgbClr val="1F497D"/>
                </a:solidFill>
              </a:rPr>
              <a:t>₹29,770.54</a:t>
            </a:r>
          </a:p>
          <a:p>
            <a:r>
              <a:rPr lang="en-US" sz="1300">
                <a:solidFill>
                  <a:srgbClr val="595959"/>
                </a:solidFill>
              </a:rPr>
              <a:t>Average sale value</a:t>
            </a:r>
          </a:p>
        </p:txBody>
      </p:sp>
      <p:sp>
        <p:nvSpPr>
          <p:cNvPr id="32" name="Card3"/>
          <p:cNvSpPr/>
          <p:nvPr/>
        </p:nvSpPr>
        <p:spPr>
          <a:xfrm>
            <a:off x="6077200" y="1300000"/>
            <a:ext cx="2610000" cy="1080000"/>
          </a:xfrm>
          <a:prstGeom prst="rect">
            <a:avLst/>
          </a:prstGeom>
          <a:solidFill>
            <a:srgbClr val="EAF1FA"/>
          </a:solidFill>
          <a:ln>
            <a:noFill/>
          </a:ln>
        </p:spPr>
        <p:txBody>
          <a:bodyPr wrap="square" lIns="180000" tIns="140000" rIns="120000" bIns="120000" anchor="t"/>
          <a:lstStyle/>
          <a:p>
            <a:r>
              <a:rPr lang="en-US" sz="3000" b="1">
                <a:solidFill>
                  <a:srgbClr val="1F497D"/>
                </a:solidFill>
              </a:rPr>
              <a:t>612</a:t>
            </a:r>
          </a:p>
          <a:p>
            <a:r>
              <a:rPr lang="en-US" sz="1300">
                <a:solidFill>
                  <a:srgbClr val="595959"/>
                </a:solidFill>
              </a:rPr>
              <a:t>Invoices billed</a:t>
            </a:r>
          </a:p>
        </p:txBody>
      </p:sp>
      <p:pic>
        <p:nvPicPr>
          <p:cNvPr id="40" name="Dashboar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000" y="2640000"/>
            <a:ext cx="7000000" cy="3711557"/>
          </a:xfrm>
          <a:prstGeom prst="rect">
            <a:avLst/>
          </a:prstGeom>
          <a:ln w="12700">
            <a:solidFill>
              <a:srgbClr val="C6D2E0"/>
            </a:solidFill>
          </a:ln>
        </p:spPr>
      </p:pic>
      <p:sp>
        <p:nvSpPr>
          <p:cNvPr id="41" name="Caption"/>
          <p:cNvSpPr txBox="1"/>
          <p:nvPr/>
        </p:nvSpPr>
        <p:spPr>
          <a:xfrm>
            <a:off x="1072000" y="6420000"/>
            <a:ext cx="7000000" cy="32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lang="en-US" sz="1100" i="1">
                <a:solidFill>
                  <a:srgbClr val="7F7F7F"/>
                </a:solidFill>
              </a:rPr>
              <a:t>Source: Towel Sales Dashboard · 2023–2026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Square"/>
          <p:cNvSpPr/>
          <p:nvPr/>
        </p:nvSpPr>
        <p:spPr>
          <a:xfrm>
            <a:off x="457200" y="470000"/>
            <a:ext cx="140000" cy="140000"/>
          </a:xfrm>
          <a:prstGeom prst="rect">
            <a:avLst/>
          </a:prstGeom>
          <a:solidFill>
            <a:srgbClr val="4BACC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" name="Title"/>
          <p:cNvSpPr txBox="1"/>
          <p:nvPr/>
        </p:nvSpPr>
        <p:spPr>
          <a:xfrm>
            <a:off x="700000" y="380000"/>
            <a:ext cx="7900000" cy="7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3200" b="1">
                <a:solidFill>
                  <a:srgbClr val="1F497D"/>
                </a:solidFill>
              </a:rPr>
              <a:t>The Maths of ₹50 Lakhs</a:t>
            </a:r>
          </a:p>
        </p:txBody>
      </p:sp>
      <p:sp>
        <p:nvSpPr>
          <p:cNvPr id="22" name="Sub"/>
          <p:cNvSpPr txBox="1"/>
          <p:nvPr/>
        </p:nvSpPr>
        <p:spPr>
          <a:xfrm>
            <a:off x="700000" y="1080000"/>
            <a:ext cx="7900000" cy="38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1500">
                <a:solidFill>
                  <a:srgbClr val="595959"/>
                </a:solidFill>
              </a:rPr>
              <a:t>Two dials decide the year: how many invoices, and the value of each.</a:t>
            </a:r>
          </a:p>
        </p:txBody>
      </p:sp>
      <p:sp>
        <p:nvSpPr>
          <p:cNvPr id="30" name="EqA"/>
          <p:cNvSpPr/>
          <p:nvPr/>
        </p:nvSpPr>
        <p:spPr>
          <a:xfrm>
            <a:off x="457200" y="1640000"/>
            <a:ext cx="2250000" cy="1320000"/>
          </a:xfrm>
          <a:prstGeom prst="rect">
            <a:avLst/>
          </a:prstGeom>
          <a:solidFill>
            <a:srgbClr val="EAF1FA"/>
          </a:solidFill>
          <a:ln>
            <a:noFill/>
          </a:ln>
        </p:spPr>
        <p:txBody>
          <a:bodyPr wrap="square" lIns="120000" tIns="120000" rIns="120000" bIns="120000" anchor="ctr"/>
          <a:lstStyle/>
          <a:p>
            <a:pPr algn="ctr"/>
            <a:r>
              <a:rPr lang="en-US" sz="1500" b="1">
                <a:solidFill>
                  <a:srgbClr val="1F497D"/>
                </a:solidFill>
              </a:rPr>
              <a:t>Number of Invoices</a:t>
            </a:r>
          </a:p>
          <a:p>
            <a:pPr algn="ctr"/>
            <a:r>
              <a:rPr lang="en-US" sz="1100">
                <a:solidFill>
                  <a:srgbClr val="595959"/>
                </a:solidFill>
              </a:rPr>
              <a:t>volume dial</a:t>
            </a:r>
          </a:p>
        </p:txBody>
      </p:sp>
      <p:sp>
        <p:nvSpPr>
          <p:cNvPr id="31" name="OpX"/>
          <p:cNvSpPr txBox="1"/>
          <p:nvPr/>
        </p:nvSpPr>
        <p:spPr>
          <a:xfrm>
            <a:off x="2727200" y="1640000"/>
            <a:ext cx="370000" cy="13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en-US" sz="2800" b="1">
                <a:solidFill>
                  <a:srgbClr val="4BACC6"/>
                </a:solidFill>
              </a:rPr>
              <a:t>×</a:t>
            </a:r>
          </a:p>
        </p:txBody>
      </p:sp>
      <p:sp>
        <p:nvSpPr>
          <p:cNvPr id="32" name="EqB"/>
          <p:cNvSpPr/>
          <p:nvPr/>
        </p:nvSpPr>
        <p:spPr>
          <a:xfrm>
            <a:off x="3117200" y="1640000"/>
            <a:ext cx="2250000" cy="1320000"/>
          </a:xfrm>
          <a:prstGeom prst="rect">
            <a:avLst/>
          </a:prstGeom>
          <a:solidFill>
            <a:srgbClr val="EAF1FA"/>
          </a:solidFill>
          <a:ln>
            <a:noFill/>
          </a:ln>
        </p:spPr>
        <p:txBody>
          <a:bodyPr wrap="square" lIns="120000" tIns="120000" rIns="120000" bIns="120000" anchor="ctr"/>
          <a:lstStyle/>
          <a:p>
            <a:pPr algn="ctr"/>
            <a:r>
              <a:rPr lang="en-US" sz="1500" b="1">
                <a:solidFill>
                  <a:srgbClr val="1F497D"/>
                </a:solidFill>
              </a:rPr>
              <a:t>Average Order Value</a:t>
            </a:r>
          </a:p>
          <a:p>
            <a:pPr algn="ctr"/>
            <a:r>
              <a:rPr lang="en-US" sz="1100">
                <a:solidFill>
                  <a:srgbClr val="595959"/>
                </a:solidFill>
              </a:rPr>
              <a:t>value dial</a:t>
            </a:r>
          </a:p>
        </p:txBody>
      </p:sp>
      <p:sp>
        <p:nvSpPr>
          <p:cNvPr id="33" name="OpEq"/>
          <p:cNvSpPr txBox="1"/>
          <p:nvPr/>
        </p:nvSpPr>
        <p:spPr>
          <a:xfrm>
            <a:off x="5387200" y="1640000"/>
            <a:ext cx="370000" cy="13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en-US" sz="2800" b="1">
                <a:solidFill>
                  <a:srgbClr val="4BACC6"/>
                </a:solidFill>
              </a:rPr>
              <a:t>=</a:t>
            </a:r>
          </a:p>
        </p:txBody>
      </p:sp>
      <p:sp>
        <p:nvSpPr>
          <p:cNvPr id="34" name="EqGoal"/>
          <p:cNvSpPr/>
          <p:nvPr/>
        </p:nvSpPr>
        <p:spPr>
          <a:xfrm>
            <a:off x="5777200" y="1640000"/>
            <a:ext cx="2910000" cy="13200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txBody>
          <a:bodyPr wrap="square" lIns="120000" tIns="120000" rIns="120000" bIns="120000" anchor="ctr"/>
          <a:lstStyle/>
          <a:p>
            <a:pPr algn="ctr"/>
            <a:r>
              <a:rPr lang="en-US" sz="3200" b="1">
                <a:solidFill>
                  <a:srgbClr val="FFFFFF"/>
                </a:solidFill>
              </a:rPr>
              <a:t>₹50,00,000</a:t>
            </a:r>
          </a:p>
          <a:p>
            <a:pPr algn="ctr"/>
            <a:r>
              <a:rPr lang="en-US" sz="1200">
                <a:solidFill>
                  <a:srgbClr val="9DC3E6"/>
                </a:solidFill>
              </a:rPr>
              <a:t>FY 2026-27 goal</a:t>
            </a:r>
          </a:p>
        </p:txBody>
      </p:sp>
      <p:sp>
        <p:nvSpPr>
          <p:cNvPr id="40" name="WaysLabel"/>
          <p:cNvSpPr txBox="1"/>
          <p:nvPr/>
        </p:nvSpPr>
        <p:spPr>
          <a:xfrm>
            <a:off x="457200" y="3180000"/>
            <a:ext cx="7000000" cy="36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1500" b="1" spc="200">
                <a:solidFill>
                  <a:srgbClr val="4BACC6"/>
                </a:solidFill>
              </a:rPr>
              <a:t>TWO WAYS TO GET THERE</a:t>
            </a:r>
          </a:p>
        </p:txBody>
      </p:sp>
      <p:sp>
        <p:nvSpPr>
          <p:cNvPr id="41" name="Sc1"/>
          <p:cNvSpPr/>
          <p:nvPr/>
        </p:nvSpPr>
        <p:spPr>
          <a:xfrm>
            <a:off x="457200" y="3640000"/>
            <a:ext cx="3995000" cy="1860000"/>
          </a:xfrm>
          <a:prstGeom prst="rect">
            <a:avLst/>
          </a:prstGeom>
          <a:solidFill>
            <a:srgbClr val="F2F6FC"/>
          </a:solidFill>
          <a:ln w="12700">
            <a:solidFill>
              <a:srgbClr val="C6D2E0"/>
            </a:solidFill>
          </a:ln>
        </p:spPr>
        <p:txBody>
          <a:bodyPr wrap="square" lIns="200000" tIns="170000" rIns="200000" bIns="170000" anchor="t"/>
          <a:lstStyle/>
          <a:p>
            <a:r>
              <a:rPr lang="en-US" sz="1700" b="1">
                <a:solidFill>
                  <a:srgbClr val="1F497D"/>
                </a:solidFill>
              </a:rPr>
              <a:t>Hold value, grow volume</a:t>
            </a:r>
          </a:p>
          <a:p>
            <a:pPr>
              <a:spcBef>
                <a:spcPts val="700"/>
              </a:spcBef>
            </a:pPr>
            <a:r>
              <a:rPr lang="en-US" sz="3200" b="1">
                <a:solidFill>
                  <a:srgbClr val="4BACC6"/>
                </a:solidFill>
              </a:rPr>
              <a:t>~168</a:t>
            </a:r>
            <a:r>
              <a:rPr lang="en-US" sz="1500">
                <a:solidFill>
                  <a:srgbClr val="595959"/>
                </a:solidFill>
              </a:rPr>
              <a:t>  invoices in the year</a:t>
            </a:r>
          </a:p>
          <a:p>
            <a:pPr>
              <a:spcBef>
                <a:spcPts val="500"/>
              </a:spcBef>
            </a:pPr>
            <a:r>
              <a:rPr lang="en-US" sz="1400">
                <a:solidFill>
                  <a:srgbClr val="262626"/>
                </a:solidFill>
              </a:rPr>
              <a:t>At today’s ₹29,770 average — about 14 orders a month.</a:t>
            </a:r>
          </a:p>
        </p:txBody>
      </p:sp>
      <p:sp>
        <p:nvSpPr>
          <p:cNvPr id="42" name="Sc2"/>
          <p:cNvSpPr/>
          <p:nvPr/>
        </p:nvSpPr>
        <p:spPr>
          <a:xfrm>
            <a:off x="4692200" y="3640000"/>
            <a:ext cx="3995000" cy="1860000"/>
          </a:xfrm>
          <a:prstGeom prst="rect">
            <a:avLst/>
          </a:prstGeom>
          <a:solidFill>
            <a:srgbClr val="F2F6FC"/>
          </a:solidFill>
          <a:ln w="12700">
            <a:solidFill>
              <a:srgbClr val="C6D2E0"/>
            </a:solidFill>
          </a:ln>
        </p:spPr>
        <p:txBody>
          <a:bodyPr wrap="square" lIns="200000" tIns="170000" rIns="200000" bIns="170000" anchor="t"/>
          <a:lstStyle/>
          <a:p>
            <a:r>
              <a:rPr lang="en-US" sz="1700" b="1">
                <a:solidFill>
                  <a:srgbClr val="1F497D"/>
                </a:solidFill>
              </a:rPr>
              <a:t>Lift value 17%, need fewer</a:t>
            </a:r>
          </a:p>
          <a:p>
            <a:pPr>
              <a:spcBef>
                <a:spcPts val="700"/>
              </a:spcBef>
            </a:pPr>
            <a:r>
              <a:rPr lang="en-US" sz="3200" b="1">
                <a:solidFill>
                  <a:srgbClr val="C0504D"/>
                </a:solidFill>
              </a:rPr>
              <a:t>~143</a:t>
            </a:r>
            <a:r>
              <a:rPr lang="en-US" sz="1500">
                <a:solidFill>
                  <a:srgbClr val="595959"/>
                </a:solidFill>
              </a:rPr>
              <a:t>  invoices in the year</a:t>
            </a:r>
          </a:p>
          <a:p>
            <a:pPr>
              <a:spcBef>
                <a:spcPts val="500"/>
              </a:spcBef>
            </a:pPr>
            <a:r>
              <a:rPr lang="en-US" sz="1400">
                <a:solidFill>
                  <a:srgbClr val="262626"/>
                </a:solidFill>
              </a:rPr>
              <a:t>Raise the average to ~₹34,900 through bundles and tiers.</a:t>
            </a:r>
          </a:p>
        </p:txBody>
      </p:sp>
      <p:sp>
        <p:nvSpPr>
          <p:cNvPr id="43" name="Note"/>
          <p:cNvSpPr txBox="1"/>
          <p:nvPr/>
        </p:nvSpPr>
        <p:spPr>
          <a:xfrm>
            <a:off x="457200" y="5640000"/>
            <a:ext cx="8229600" cy="32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1100" i="1">
                <a:solidFill>
                  <a:srgbClr val="7F7F7F"/>
                </a:solidFill>
              </a:rPr>
              <a:t>Figures illustrative, derived from the dashboard’s average sale value of ₹29,770.54.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Square"/>
          <p:cNvSpPr/>
          <p:nvPr/>
        </p:nvSpPr>
        <p:spPr>
          <a:xfrm>
            <a:off x="457200" y="470000"/>
            <a:ext cx="140000" cy="140000"/>
          </a:xfrm>
          <a:prstGeom prst="rect">
            <a:avLst/>
          </a:prstGeom>
          <a:solidFill>
            <a:srgbClr val="4BACC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" name="Title"/>
          <p:cNvSpPr txBox="1"/>
          <p:nvPr/>
        </p:nvSpPr>
        <p:spPr>
          <a:xfrm>
            <a:off x="700000" y="380000"/>
            <a:ext cx="6300000" cy="7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2800" b="1">
                <a:solidFill>
                  <a:srgbClr val="1F497D"/>
                </a:solidFill>
              </a:rPr>
              <a:t>Performance &amp; Volume</a:t>
            </a:r>
          </a:p>
        </p:txBody>
      </p:sp>
      <p:sp>
        <p:nvSpPr>
          <p:cNvPr id="22" name="Tag"/>
          <p:cNvSpPr/>
          <p:nvPr/>
        </p:nvSpPr>
        <p:spPr>
          <a:xfrm>
            <a:off x="6837000" y="450000"/>
            <a:ext cx="1849800" cy="430000"/>
          </a:xfrm>
          <a:prstGeom prst="roundRect">
            <a:avLst>
              <a:gd name="adj" fmla="val 25000"/>
            </a:avLst>
          </a:prstGeom>
          <a:solidFill>
            <a:srgbClr val="1F497D"/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1200" b="1" spc="100">
                <a:solidFill>
                  <a:srgbClr val="FFFFFF"/>
                </a:solidFill>
              </a:rPr>
              <a:t>INSIGHTS 1–5 / 25</a:t>
            </a:r>
          </a:p>
        </p:txBody>
      </p:sp>
      <p:sp>
        <p:nvSpPr>
          <p:cNvPr id="100" name="RowCard0"/>
          <p:cNvSpPr/>
          <p:nvPr/>
        </p:nvSpPr>
        <p:spPr>
          <a:xfrm>
            <a:off x="457200" y="1500000"/>
            <a:ext cx="8229600" cy="9800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1" name="Badge0"/>
          <p:cNvSpPr/>
          <p:nvPr/>
        </p:nvSpPr>
        <p:spPr>
          <a:xfrm>
            <a:off x="637200" y="1680000"/>
            <a:ext cx="620000" cy="620000"/>
          </a:xfrm>
          <a:prstGeom prst="ellipse">
            <a:avLst/>
          </a:prstGeom>
          <a:solidFill>
            <a:srgbClr val="1F497D"/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20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2" name="Txt0"/>
          <p:cNvSpPr txBox="1"/>
          <p:nvPr/>
        </p:nvSpPr>
        <p:spPr>
          <a:xfrm>
            <a:off x="1480000" y="1500000"/>
            <a:ext cx="7080000" cy="980000"/>
          </a:xfrm>
          <a:prstGeom prst="rect">
            <a:avLst/>
          </a:prstGeom>
          <a:noFill/>
        </p:spPr>
        <p:txBody>
          <a:bodyPr wrap="square" lIns="120000" tIns="60000" rIns="160000" bIns="60000" anchor="ctr"/>
          <a:lstStyle/>
          <a:p>
            <a:r>
              <a:rPr lang="en-US" sz="1600" b="1">
                <a:solidFill>
                  <a:srgbClr val="1F497D"/>
                </a:solidFill>
              </a:rPr>
              <a:t>A ₹60 lakh-a-year run-rate</a:t>
            </a:r>
          </a:p>
          <a:p>
            <a:pPr>
              <a:spcBef>
                <a:spcPts val="300"/>
              </a:spcBef>
            </a:pPr>
            <a:r>
              <a:rPr lang="en-US" sz="1300">
                <a:solidFill>
                  <a:srgbClr val="404040"/>
                </a:solidFill>
              </a:rPr>
              <a:t>₹1.82 Cr over 2023–2026 means the ₹50 lakh FY26-27 goal is well within reach.</a:t>
            </a:r>
          </a:p>
        </p:txBody>
      </p:sp>
      <p:sp>
        <p:nvSpPr>
          <p:cNvPr id="103" name="RowCard1"/>
          <p:cNvSpPr/>
          <p:nvPr/>
        </p:nvSpPr>
        <p:spPr>
          <a:xfrm>
            <a:off x="457200" y="2540000"/>
            <a:ext cx="8229600" cy="9800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4" name="Badge1"/>
          <p:cNvSpPr/>
          <p:nvPr/>
        </p:nvSpPr>
        <p:spPr>
          <a:xfrm>
            <a:off x="637200" y="2720000"/>
            <a:ext cx="620000" cy="620000"/>
          </a:xfrm>
          <a:prstGeom prst="ellipse">
            <a:avLst/>
          </a:prstGeom>
          <a:solidFill>
            <a:srgbClr val="1F497D"/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20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5" name="Txt1"/>
          <p:cNvSpPr txBox="1"/>
          <p:nvPr/>
        </p:nvSpPr>
        <p:spPr>
          <a:xfrm>
            <a:off x="1480000" y="2540000"/>
            <a:ext cx="7080000" cy="980000"/>
          </a:xfrm>
          <a:prstGeom prst="rect">
            <a:avLst/>
          </a:prstGeom>
          <a:noFill/>
        </p:spPr>
        <p:txBody>
          <a:bodyPr wrap="square" lIns="120000" tIns="60000" rIns="160000" bIns="60000" anchor="ctr"/>
          <a:lstStyle/>
          <a:p>
            <a:r>
              <a:rPr lang="en-US" sz="1600" b="1">
                <a:solidFill>
                  <a:srgbClr val="1F497D"/>
                </a:solidFill>
              </a:rPr>
              <a:t>Volume is the bigger lever</a:t>
            </a:r>
          </a:p>
          <a:p>
            <a:pPr>
              <a:spcBef>
                <a:spcPts val="300"/>
              </a:spcBef>
            </a:pPr>
            <a:r>
              <a:rPr lang="en-US" sz="1300">
                <a:solidFill>
                  <a:srgbClr val="404040"/>
                </a:solidFill>
              </a:rPr>
              <a:t>612 invoices is about 17 orders a month — frequency drives the number, not just deal size.</a:t>
            </a:r>
          </a:p>
        </p:txBody>
      </p:sp>
      <p:sp>
        <p:nvSpPr>
          <p:cNvPr id="106" name="RowCard2"/>
          <p:cNvSpPr/>
          <p:nvPr/>
        </p:nvSpPr>
        <p:spPr>
          <a:xfrm>
            <a:off x="457200" y="3580000"/>
            <a:ext cx="8229600" cy="9800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7" name="Badge2"/>
          <p:cNvSpPr/>
          <p:nvPr/>
        </p:nvSpPr>
        <p:spPr>
          <a:xfrm>
            <a:off x="637200" y="3760000"/>
            <a:ext cx="620000" cy="620000"/>
          </a:xfrm>
          <a:prstGeom prst="ellipse">
            <a:avLst/>
          </a:prstGeom>
          <a:solidFill>
            <a:srgbClr val="1F497D"/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20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08" name="Txt2"/>
          <p:cNvSpPr txBox="1"/>
          <p:nvPr/>
        </p:nvSpPr>
        <p:spPr>
          <a:xfrm>
            <a:off x="1480000" y="3580000"/>
            <a:ext cx="7080000" cy="980000"/>
          </a:xfrm>
          <a:prstGeom prst="rect">
            <a:avLst/>
          </a:prstGeom>
          <a:noFill/>
        </p:spPr>
        <p:txBody>
          <a:bodyPr wrap="square" lIns="120000" tIns="60000" rIns="160000" bIns="60000" anchor="ctr"/>
          <a:lstStyle/>
          <a:p>
            <a:r>
              <a:rPr lang="en-US" sz="1600" b="1">
                <a:solidFill>
                  <a:srgbClr val="1F497D"/>
                </a:solidFill>
              </a:rPr>
              <a:t>₹29,770 is the most powerful figure</a:t>
            </a:r>
          </a:p>
          <a:p>
            <a:pPr>
              <a:spcBef>
                <a:spcPts val="300"/>
              </a:spcBef>
            </a:pPr>
            <a:r>
              <a:rPr lang="en-US" sz="1300">
                <a:solidFill>
                  <a:srgbClr val="404040"/>
                </a:solidFill>
              </a:rPr>
              <a:t>Every rupee added to the average sale compounds across all 612 invoices.</a:t>
            </a:r>
          </a:p>
        </p:txBody>
      </p:sp>
      <p:sp>
        <p:nvSpPr>
          <p:cNvPr id="109" name="RowCard3"/>
          <p:cNvSpPr/>
          <p:nvPr/>
        </p:nvSpPr>
        <p:spPr>
          <a:xfrm>
            <a:off x="457200" y="4620000"/>
            <a:ext cx="8229600" cy="9800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0" name="Badge3"/>
          <p:cNvSpPr/>
          <p:nvPr/>
        </p:nvSpPr>
        <p:spPr>
          <a:xfrm>
            <a:off x="637200" y="4800000"/>
            <a:ext cx="620000" cy="620000"/>
          </a:xfrm>
          <a:prstGeom prst="ellipse">
            <a:avLst/>
          </a:prstGeom>
          <a:solidFill>
            <a:srgbClr val="1F497D"/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20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11" name="Txt3"/>
          <p:cNvSpPr txBox="1"/>
          <p:nvPr/>
        </p:nvSpPr>
        <p:spPr>
          <a:xfrm>
            <a:off x="1480000" y="4620000"/>
            <a:ext cx="7080000" cy="980000"/>
          </a:xfrm>
          <a:prstGeom prst="rect">
            <a:avLst/>
          </a:prstGeom>
          <a:noFill/>
        </p:spPr>
        <p:txBody>
          <a:bodyPr wrap="square" lIns="120000" tIns="60000" rIns="160000" bIns="60000" anchor="ctr"/>
          <a:lstStyle/>
          <a:p>
            <a:r>
              <a:rPr lang="en-US" sz="1600" b="1">
                <a:solidFill>
                  <a:srgbClr val="1F497D"/>
                </a:solidFill>
              </a:rPr>
              <a:t>168 invoices equals ₹50 lakhs</a:t>
            </a:r>
          </a:p>
          <a:p>
            <a:pPr>
              <a:spcBef>
                <a:spcPts val="300"/>
              </a:spcBef>
            </a:pPr>
            <a:r>
              <a:rPr lang="en-US" sz="1300">
                <a:solidFill>
                  <a:srgbClr val="404040"/>
                </a:solidFill>
              </a:rPr>
              <a:t>At today’s average order value, the goal becomes a simple, countable target.</a:t>
            </a:r>
          </a:p>
        </p:txBody>
      </p:sp>
      <p:sp>
        <p:nvSpPr>
          <p:cNvPr id="112" name="RowCard4"/>
          <p:cNvSpPr/>
          <p:nvPr/>
        </p:nvSpPr>
        <p:spPr>
          <a:xfrm>
            <a:off x="457200" y="5660000"/>
            <a:ext cx="8229600" cy="9800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3" name="Badge4"/>
          <p:cNvSpPr/>
          <p:nvPr/>
        </p:nvSpPr>
        <p:spPr>
          <a:xfrm>
            <a:off x="637200" y="5840000"/>
            <a:ext cx="620000" cy="620000"/>
          </a:xfrm>
          <a:prstGeom prst="ellipse">
            <a:avLst/>
          </a:prstGeom>
          <a:solidFill>
            <a:srgbClr val="1F497D"/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20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14" name="Txt4"/>
          <p:cNvSpPr txBox="1"/>
          <p:nvPr/>
        </p:nvSpPr>
        <p:spPr>
          <a:xfrm>
            <a:off x="1480000" y="5660000"/>
            <a:ext cx="7080000" cy="980000"/>
          </a:xfrm>
          <a:prstGeom prst="rect">
            <a:avLst/>
          </a:prstGeom>
          <a:noFill/>
        </p:spPr>
        <p:txBody>
          <a:bodyPr wrap="square" lIns="120000" tIns="60000" rIns="160000" bIns="60000" anchor="ctr"/>
          <a:lstStyle/>
          <a:p>
            <a:r>
              <a:rPr lang="en-US" sz="1600" b="1">
                <a:solidFill>
                  <a:srgbClr val="1F497D"/>
                </a:solidFill>
              </a:rPr>
              <a:t>Revenue is concentrated, not spread</a:t>
            </a:r>
          </a:p>
          <a:p>
            <a:pPr>
              <a:spcBef>
                <a:spcPts val="300"/>
              </a:spcBef>
            </a:pPr>
            <a:r>
              <a:rPr lang="en-US" sz="1300">
                <a:solidFill>
                  <a:srgbClr val="404040"/>
                </a:solidFill>
              </a:rPr>
              <a:t>A handful of agents and customers drive most of the ₹1.82 Cr — protect the core.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Square"/>
          <p:cNvSpPr/>
          <p:nvPr/>
        </p:nvSpPr>
        <p:spPr>
          <a:xfrm>
            <a:off x="457200" y="470000"/>
            <a:ext cx="140000" cy="140000"/>
          </a:xfrm>
          <a:prstGeom prst="rect">
            <a:avLst/>
          </a:prstGeom>
          <a:solidFill>
            <a:srgbClr val="4BACC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" name="Title"/>
          <p:cNvSpPr txBox="1"/>
          <p:nvPr/>
        </p:nvSpPr>
        <p:spPr>
          <a:xfrm>
            <a:off x="700000" y="380000"/>
            <a:ext cx="6300000" cy="7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2800" b="1">
                <a:solidFill>
                  <a:srgbClr val="1F497D"/>
                </a:solidFill>
              </a:rPr>
              <a:t>Agent Performance</a:t>
            </a:r>
          </a:p>
        </p:txBody>
      </p:sp>
      <p:sp>
        <p:nvSpPr>
          <p:cNvPr id="22" name="Tag"/>
          <p:cNvSpPr/>
          <p:nvPr/>
        </p:nvSpPr>
        <p:spPr>
          <a:xfrm>
            <a:off x="6837000" y="450000"/>
            <a:ext cx="1849800" cy="430000"/>
          </a:xfrm>
          <a:prstGeom prst="roundRect">
            <a:avLst>
              <a:gd name="adj" fmla="val 25000"/>
            </a:avLst>
          </a:prstGeom>
          <a:solidFill>
            <a:srgbClr val="1F497D"/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1200" b="1" spc="100">
                <a:solidFill>
                  <a:srgbClr val="FFFFFF"/>
                </a:solidFill>
              </a:rPr>
              <a:t>INSIGHTS 6–10 / 25</a:t>
            </a:r>
          </a:p>
        </p:txBody>
      </p:sp>
      <p:sp>
        <p:nvSpPr>
          <p:cNvPr id="100" name="RowCard0"/>
          <p:cNvSpPr/>
          <p:nvPr/>
        </p:nvSpPr>
        <p:spPr>
          <a:xfrm>
            <a:off x="457200" y="1500000"/>
            <a:ext cx="8229600" cy="9800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1" name="Badge0"/>
          <p:cNvSpPr/>
          <p:nvPr/>
        </p:nvSpPr>
        <p:spPr>
          <a:xfrm>
            <a:off x="637200" y="1680000"/>
            <a:ext cx="620000" cy="620000"/>
          </a:xfrm>
          <a:prstGeom prst="ellipse">
            <a:avLst/>
          </a:prstGeom>
          <a:solidFill>
            <a:srgbClr val="1F497D"/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20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102" name="Txt0"/>
          <p:cNvSpPr txBox="1"/>
          <p:nvPr/>
        </p:nvSpPr>
        <p:spPr>
          <a:xfrm>
            <a:off x="1480000" y="1500000"/>
            <a:ext cx="7080000" cy="980000"/>
          </a:xfrm>
          <a:prstGeom prst="rect">
            <a:avLst/>
          </a:prstGeom>
          <a:noFill/>
        </p:spPr>
        <p:txBody>
          <a:bodyPr wrap="square" lIns="120000" tIns="60000" rIns="160000" bIns="60000" anchor="ctr"/>
          <a:lstStyle/>
          <a:p>
            <a:r>
              <a:rPr lang="en-US" sz="1600" b="1">
                <a:solidFill>
                  <a:srgbClr val="1F497D"/>
                </a:solidFill>
              </a:rPr>
              <a:t>Wide spread between agents</a:t>
            </a:r>
          </a:p>
          <a:p>
            <a:pPr>
              <a:spcBef>
                <a:spcPts val="300"/>
              </a:spcBef>
            </a:pPr>
            <a:r>
              <a:rPr lang="en-US" sz="1300">
                <a:solidFill>
                  <a:srgbClr val="404040"/>
                </a:solidFill>
              </a:rPr>
              <a:t>Sales by Agent shows top performers billing multiples of the lowest — a coachable gap.</a:t>
            </a:r>
          </a:p>
        </p:txBody>
      </p:sp>
      <p:sp>
        <p:nvSpPr>
          <p:cNvPr id="103" name="RowCard1"/>
          <p:cNvSpPr/>
          <p:nvPr/>
        </p:nvSpPr>
        <p:spPr>
          <a:xfrm>
            <a:off x="457200" y="2540000"/>
            <a:ext cx="8229600" cy="9800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4" name="Badge1"/>
          <p:cNvSpPr/>
          <p:nvPr/>
        </p:nvSpPr>
        <p:spPr>
          <a:xfrm>
            <a:off x="637200" y="2720000"/>
            <a:ext cx="620000" cy="620000"/>
          </a:xfrm>
          <a:prstGeom prst="ellipse">
            <a:avLst/>
          </a:prstGeom>
          <a:solidFill>
            <a:srgbClr val="1F497D"/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2000" b="1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105" name="Txt1"/>
          <p:cNvSpPr txBox="1"/>
          <p:nvPr/>
        </p:nvSpPr>
        <p:spPr>
          <a:xfrm>
            <a:off x="1480000" y="2540000"/>
            <a:ext cx="7080000" cy="980000"/>
          </a:xfrm>
          <a:prstGeom prst="rect">
            <a:avLst/>
          </a:prstGeom>
          <a:noFill/>
        </p:spPr>
        <p:txBody>
          <a:bodyPr wrap="square" lIns="120000" tIns="60000" rIns="160000" bIns="60000" anchor="ctr"/>
          <a:lstStyle/>
          <a:p>
            <a:r>
              <a:rPr lang="en-US" sz="1600" b="1">
                <a:solidFill>
                  <a:srgbClr val="1F497D"/>
                </a:solidFill>
              </a:rPr>
              <a:t>The bottom third is the fastest win</a:t>
            </a:r>
          </a:p>
          <a:p>
            <a:pPr>
              <a:spcBef>
                <a:spcPts val="300"/>
              </a:spcBef>
            </a:pPr>
            <a:r>
              <a:rPr lang="en-US" sz="1300">
                <a:solidFill>
                  <a:srgbClr val="404040"/>
                </a:solidFill>
              </a:rPr>
              <a:t>Lifting low-billing agents toward the median adds revenue with no new hires.</a:t>
            </a:r>
          </a:p>
        </p:txBody>
      </p:sp>
      <p:sp>
        <p:nvSpPr>
          <p:cNvPr id="106" name="RowCard2"/>
          <p:cNvSpPr/>
          <p:nvPr/>
        </p:nvSpPr>
        <p:spPr>
          <a:xfrm>
            <a:off x="457200" y="3580000"/>
            <a:ext cx="8229600" cy="9800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7" name="Badge2"/>
          <p:cNvSpPr/>
          <p:nvPr/>
        </p:nvSpPr>
        <p:spPr>
          <a:xfrm>
            <a:off x="637200" y="3760000"/>
            <a:ext cx="620000" cy="620000"/>
          </a:xfrm>
          <a:prstGeom prst="ellipse">
            <a:avLst/>
          </a:prstGeom>
          <a:solidFill>
            <a:srgbClr val="1F497D"/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2000" b="1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108" name="Txt2"/>
          <p:cNvSpPr txBox="1"/>
          <p:nvPr/>
        </p:nvSpPr>
        <p:spPr>
          <a:xfrm>
            <a:off x="1480000" y="3580000"/>
            <a:ext cx="7080000" cy="980000"/>
          </a:xfrm>
          <a:prstGeom prst="rect">
            <a:avLst/>
          </a:prstGeom>
          <a:noFill/>
        </p:spPr>
        <p:txBody>
          <a:bodyPr wrap="square" lIns="120000" tIns="60000" rIns="160000" bIns="60000" anchor="ctr"/>
          <a:lstStyle/>
          <a:p>
            <a:r>
              <a:rPr lang="en-US" sz="1600" b="1">
                <a:solidFill>
                  <a:srgbClr val="1F497D"/>
                </a:solidFill>
              </a:rPr>
              <a:t>Top agents are a playbook</a:t>
            </a:r>
          </a:p>
          <a:p>
            <a:pPr>
              <a:spcBef>
                <a:spcPts val="300"/>
              </a:spcBef>
            </a:pPr>
            <a:r>
              <a:rPr lang="en-US" sz="1300">
                <a:solidFill>
                  <a:srgbClr val="404040"/>
                </a:solidFill>
              </a:rPr>
              <a:t>Their customer mix, cadence and ticket size can be copied across the team.</a:t>
            </a:r>
          </a:p>
        </p:txBody>
      </p:sp>
      <p:sp>
        <p:nvSpPr>
          <p:cNvPr id="109" name="RowCard3"/>
          <p:cNvSpPr/>
          <p:nvPr/>
        </p:nvSpPr>
        <p:spPr>
          <a:xfrm>
            <a:off x="457200" y="4620000"/>
            <a:ext cx="8229600" cy="9800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0" name="Badge3"/>
          <p:cNvSpPr/>
          <p:nvPr/>
        </p:nvSpPr>
        <p:spPr>
          <a:xfrm>
            <a:off x="637200" y="4800000"/>
            <a:ext cx="620000" cy="620000"/>
          </a:xfrm>
          <a:prstGeom prst="ellipse">
            <a:avLst/>
          </a:prstGeom>
          <a:solidFill>
            <a:srgbClr val="1F497D"/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2000" b="1">
                <a:solidFill>
                  <a:srgbClr val="FFFFFF"/>
                </a:solidFill>
              </a:rPr>
              <a:t>9</a:t>
            </a:r>
          </a:p>
        </p:txBody>
      </p:sp>
      <p:sp>
        <p:nvSpPr>
          <p:cNvPr id="111" name="Txt3"/>
          <p:cNvSpPr txBox="1"/>
          <p:nvPr/>
        </p:nvSpPr>
        <p:spPr>
          <a:xfrm>
            <a:off x="1480000" y="4620000"/>
            <a:ext cx="7080000" cy="980000"/>
          </a:xfrm>
          <a:prstGeom prst="rect">
            <a:avLst/>
          </a:prstGeom>
          <a:noFill/>
        </p:spPr>
        <p:txBody>
          <a:bodyPr wrap="square" lIns="120000" tIns="60000" rIns="160000" bIns="60000" anchor="ctr"/>
          <a:lstStyle/>
          <a:p>
            <a:r>
              <a:rPr lang="en-US" sz="1600" b="1">
                <a:solidFill>
                  <a:srgbClr val="1F497D"/>
                </a:solidFill>
              </a:rPr>
              <a:t>Revenue per agent beats headcount</a:t>
            </a:r>
          </a:p>
          <a:p>
            <a:pPr>
              <a:spcBef>
                <a:spcPts val="300"/>
              </a:spcBef>
            </a:pPr>
            <a:r>
              <a:rPr lang="en-US" sz="1300">
                <a:solidFill>
                  <a:srgbClr val="404040"/>
                </a:solidFill>
              </a:rPr>
              <a:t>A few high performers carry the number; productivity is what to manage.</a:t>
            </a:r>
          </a:p>
        </p:txBody>
      </p:sp>
      <p:sp>
        <p:nvSpPr>
          <p:cNvPr id="112" name="RowCard4"/>
          <p:cNvSpPr/>
          <p:nvPr/>
        </p:nvSpPr>
        <p:spPr>
          <a:xfrm>
            <a:off x="457200" y="5660000"/>
            <a:ext cx="8229600" cy="9800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3" name="Badge4"/>
          <p:cNvSpPr/>
          <p:nvPr/>
        </p:nvSpPr>
        <p:spPr>
          <a:xfrm>
            <a:off x="637200" y="5840000"/>
            <a:ext cx="620000" cy="620000"/>
          </a:xfrm>
          <a:prstGeom prst="ellipse">
            <a:avLst/>
          </a:prstGeom>
          <a:solidFill>
            <a:srgbClr val="1F497D"/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2000" b="1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114" name="Txt4"/>
          <p:cNvSpPr txBox="1"/>
          <p:nvPr/>
        </p:nvSpPr>
        <p:spPr>
          <a:xfrm>
            <a:off x="1480000" y="5660000"/>
            <a:ext cx="7080000" cy="980000"/>
          </a:xfrm>
          <a:prstGeom prst="rect">
            <a:avLst/>
          </a:prstGeom>
          <a:noFill/>
        </p:spPr>
        <p:txBody>
          <a:bodyPr wrap="square" lIns="120000" tIns="60000" rIns="160000" bIns="60000" anchor="ctr"/>
          <a:lstStyle/>
          <a:p>
            <a:r>
              <a:rPr lang="en-US" sz="1600" b="1">
                <a:solidFill>
                  <a:srgbClr val="1F497D"/>
                </a:solidFill>
              </a:rPr>
              <a:t>No targets, no traction</a:t>
            </a:r>
          </a:p>
          <a:p>
            <a:pPr>
              <a:spcBef>
                <a:spcPts val="300"/>
              </a:spcBef>
            </a:pPr>
            <a:r>
              <a:rPr lang="en-US" sz="1300">
                <a:solidFill>
                  <a:srgbClr val="404040"/>
                </a:solidFill>
              </a:rPr>
              <a:t>The dashboard already gives the baseline to set per-agent goals tied to ₹50 lakhs.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Square"/>
          <p:cNvSpPr/>
          <p:nvPr/>
        </p:nvSpPr>
        <p:spPr>
          <a:xfrm>
            <a:off x="457200" y="470000"/>
            <a:ext cx="140000" cy="140000"/>
          </a:xfrm>
          <a:prstGeom prst="rect">
            <a:avLst/>
          </a:prstGeom>
          <a:solidFill>
            <a:srgbClr val="4BACC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" name="Title"/>
          <p:cNvSpPr txBox="1"/>
          <p:nvPr/>
        </p:nvSpPr>
        <p:spPr>
          <a:xfrm>
            <a:off x="700000" y="380000"/>
            <a:ext cx="6300000" cy="7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2800" b="1">
                <a:solidFill>
                  <a:srgbClr val="1F497D"/>
                </a:solidFill>
              </a:rPr>
              <a:t>Customers</a:t>
            </a:r>
          </a:p>
        </p:txBody>
      </p:sp>
      <p:sp>
        <p:nvSpPr>
          <p:cNvPr id="22" name="Tag"/>
          <p:cNvSpPr/>
          <p:nvPr/>
        </p:nvSpPr>
        <p:spPr>
          <a:xfrm>
            <a:off x="6837000" y="450000"/>
            <a:ext cx="1849800" cy="430000"/>
          </a:xfrm>
          <a:prstGeom prst="roundRect">
            <a:avLst>
              <a:gd name="adj" fmla="val 25000"/>
            </a:avLst>
          </a:prstGeom>
          <a:solidFill>
            <a:srgbClr val="1F497D"/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1200" b="1" spc="100">
                <a:solidFill>
                  <a:srgbClr val="FFFFFF"/>
                </a:solidFill>
              </a:rPr>
              <a:t>INSIGHTS 11–15 / 25</a:t>
            </a:r>
          </a:p>
        </p:txBody>
      </p:sp>
      <p:sp>
        <p:nvSpPr>
          <p:cNvPr id="100" name="RowCard0"/>
          <p:cNvSpPr/>
          <p:nvPr/>
        </p:nvSpPr>
        <p:spPr>
          <a:xfrm>
            <a:off x="457200" y="1500000"/>
            <a:ext cx="8229600" cy="9800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1" name="Badge0"/>
          <p:cNvSpPr/>
          <p:nvPr/>
        </p:nvSpPr>
        <p:spPr>
          <a:xfrm>
            <a:off x="637200" y="1680000"/>
            <a:ext cx="620000" cy="620000"/>
          </a:xfrm>
          <a:prstGeom prst="ellipse">
            <a:avLst/>
          </a:prstGeom>
          <a:solidFill>
            <a:srgbClr val="1F497D"/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2000" b="1">
                <a:solidFill>
                  <a:srgbClr val="FFFFFF"/>
                </a:solidFill>
              </a:rPr>
              <a:t>11</a:t>
            </a:r>
          </a:p>
        </p:txBody>
      </p:sp>
      <p:sp>
        <p:nvSpPr>
          <p:cNvPr id="102" name="Txt0"/>
          <p:cNvSpPr txBox="1"/>
          <p:nvPr/>
        </p:nvSpPr>
        <p:spPr>
          <a:xfrm>
            <a:off x="1480000" y="1500000"/>
            <a:ext cx="7080000" cy="980000"/>
          </a:xfrm>
          <a:prstGeom prst="rect">
            <a:avLst/>
          </a:prstGeom>
          <a:noFill/>
        </p:spPr>
        <p:txBody>
          <a:bodyPr wrap="square" lIns="120000" tIns="60000" rIns="160000" bIns="60000" anchor="ctr"/>
          <a:lstStyle/>
          <a:p>
            <a:r>
              <a:rPr lang="en-US" sz="1600" b="1">
                <a:solidFill>
                  <a:srgbClr val="1F497D"/>
                </a:solidFill>
              </a:rPr>
              <a:t>Top accounts dominate</a:t>
            </a:r>
          </a:p>
          <a:p>
            <a:pPr>
              <a:spcBef>
                <a:spcPts val="300"/>
              </a:spcBef>
            </a:pPr>
            <a:r>
              <a:rPr lang="en-US" sz="1300">
                <a:solidFill>
                  <a:srgbClr val="404040"/>
                </a:solidFill>
              </a:rPr>
              <a:t>Top Customers by Sales is steeply skewed toward a few marquee buyers.</a:t>
            </a:r>
          </a:p>
        </p:txBody>
      </p:sp>
      <p:sp>
        <p:nvSpPr>
          <p:cNvPr id="103" name="RowCard1"/>
          <p:cNvSpPr/>
          <p:nvPr/>
        </p:nvSpPr>
        <p:spPr>
          <a:xfrm>
            <a:off x="457200" y="2540000"/>
            <a:ext cx="8229600" cy="9800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4" name="Badge1"/>
          <p:cNvSpPr/>
          <p:nvPr/>
        </p:nvSpPr>
        <p:spPr>
          <a:xfrm>
            <a:off x="637200" y="2720000"/>
            <a:ext cx="620000" cy="620000"/>
          </a:xfrm>
          <a:prstGeom prst="ellipse">
            <a:avLst/>
          </a:prstGeom>
          <a:solidFill>
            <a:srgbClr val="1F497D"/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2000" b="1">
                <a:solidFill>
                  <a:srgbClr val="FFFFFF"/>
                </a:solidFill>
              </a:rPr>
              <a:t>12</a:t>
            </a:r>
          </a:p>
        </p:txBody>
      </p:sp>
      <p:sp>
        <p:nvSpPr>
          <p:cNvPr id="105" name="Txt1"/>
          <p:cNvSpPr txBox="1"/>
          <p:nvPr/>
        </p:nvSpPr>
        <p:spPr>
          <a:xfrm>
            <a:off x="1480000" y="2540000"/>
            <a:ext cx="7080000" cy="980000"/>
          </a:xfrm>
          <a:prstGeom prst="rect">
            <a:avLst/>
          </a:prstGeom>
          <a:noFill/>
        </p:spPr>
        <p:txBody>
          <a:bodyPr wrap="square" lIns="120000" tIns="60000" rIns="160000" bIns="60000" anchor="ctr"/>
          <a:lstStyle/>
          <a:p>
            <a:r>
              <a:rPr lang="en-US" sz="1600" b="1">
                <a:solidFill>
                  <a:srgbClr val="1F497D"/>
                </a:solidFill>
              </a:rPr>
              <a:t>Retention is the cheapest revenue</a:t>
            </a:r>
          </a:p>
          <a:p>
            <a:pPr>
              <a:spcBef>
                <a:spcPts val="300"/>
              </a:spcBef>
            </a:pPr>
            <a:r>
              <a:rPr lang="en-US" sz="1300">
                <a:solidFill>
                  <a:srgbClr val="404040"/>
                </a:solidFill>
              </a:rPr>
              <a:t>Re-ordering accounts already trust the product and cost almost nothing to win.</a:t>
            </a:r>
          </a:p>
        </p:txBody>
      </p:sp>
      <p:sp>
        <p:nvSpPr>
          <p:cNvPr id="106" name="RowCard2"/>
          <p:cNvSpPr/>
          <p:nvPr/>
        </p:nvSpPr>
        <p:spPr>
          <a:xfrm>
            <a:off x="457200" y="3580000"/>
            <a:ext cx="8229600" cy="9800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7" name="Badge2"/>
          <p:cNvSpPr/>
          <p:nvPr/>
        </p:nvSpPr>
        <p:spPr>
          <a:xfrm>
            <a:off x="637200" y="3760000"/>
            <a:ext cx="620000" cy="620000"/>
          </a:xfrm>
          <a:prstGeom prst="ellipse">
            <a:avLst/>
          </a:prstGeom>
          <a:solidFill>
            <a:srgbClr val="1F497D"/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2000" b="1">
                <a:solidFill>
                  <a:srgbClr val="FFFFFF"/>
                </a:solidFill>
              </a:rPr>
              <a:t>13</a:t>
            </a:r>
          </a:p>
        </p:txBody>
      </p:sp>
      <p:sp>
        <p:nvSpPr>
          <p:cNvPr id="108" name="Txt2"/>
          <p:cNvSpPr txBox="1"/>
          <p:nvPr/>
        </p:nvSpPr>
        <p:spPr>
          <a:xfrm>
            <a:off x="1480000" y="3580000"/>
            <a:ext cx="7080000" cy="980000"/>
          </a:xfrm>
          <a:prstGeom prst="rect">
            <a:avLst/>
          </a:prstGeom>
          <a:noFill/>
        </p:spPr>
        <p:txBody>
          <a:bodyPr wrap="square" lIns="120000" tIns="60000" rIns="160000" bIns="60000" anchor="ctr"/>
          <a:lstStyle/>
          <a:p>
            <a:r>
              <a:rPr lang="en-US" sz="1600" b="1">
                <a:solidFill>
                  <a:srgbClr val="1F497D"/>
                </a:solidFill>
              </a:rPr>
              <a:t>A long tail to wake up</a:t>
            </a:r>
          </a:p>
          <a:p>
            <a:pPr>
              <a:spcBef>
                <a:spcPts val="300"/>
              </a:spcBef>
            </a:pPr>
            <a:r>
              <a:rPr lang="en-US" sz="1300">
                <a:solidFill>
                  <a:srgbClr val="404040"/>
                </a:solidFill>
              </a:rPr>
              <a:t>Many small and one-time buyers signal real upsell and reactivation potential.</a:t>
            </a:r>
          </a:p>
        </p:txBody>
      </p:sp>
      <p:sp>
        <p:nvSpPr>
          <p:cNvPr id="109" name="RowCard3"/>
          <p:cNvSpPr/>
          <p:nvPr/>
        </p:nvSpPr>
        <p:spPr>
          <a:xfrm>
            <a:off x="457200" y="4620000"/>
            <a:ext cx="8229600" cy="9800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0" name="Badge3"/>
          <p:cNvSpPr/>
          <p:nvPr/>
        </p:nvSpPr>
        <p:spPr>
          <a:xfrm>
            <a:off x="637200" y="4800000"/>
            <a:ext cx="620000" cy="620000"/>
          </a:xfrm>
          <a:prstGeom prst="ellipse">
            <a:avLst/>
          </a:prstGeom>
          <a:solidFill>
            <a:srgbClr val="1F497D"/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2000" b="1">
                <a:solidFill>
                  <a:srgbClr val="FFFFFF"/>
                </a:solidFill>
              </a:rPr>
              <a:t>14</a:t>
            </a:r>
          </a:p>
        </p:txBody>
      </p:sp>
      <p:sp>
        <p:nvSpPr>
          <p:cNvPr id="111" name="Txt3"/>
          <p:cNvSpPr txBox="1"/>
          <p:nvPr/>
        </p:nvSpPr>
        <p:spPr>
          <a:xfrm>
            <a:off x="1480000" y="4620000"/>
            <a:ext cx="7080000" cy="980000"/>
          </a:xfrm>
          <a:prstGeom prst="rect">
            <a:avLst/>
          </a:prstGeom>
          <a:noFill/>
        </p:spPr>
        <p:txBody>
          <a:bodyPr wrap="square" lIns="120000" tIns="60000" rIns="160000" bIns="60000" anchor="ctr"/>
          <a:lstStyle/>
          <a:p>
            <a:r>
              <a:rPr lang="en-US" sz="1600" b="1">
                <a:solidFill>
                  <a:srgbClr val="1F497D"/>
                </a:solidFill>
              </a:rPr>
              <a:t>Concentration is also a risk</a:t>
            </a:r>
          </a:p>
          <a:p>
            <a:pPr>
              <a:spcBef>
                <a:spcPts val="300"/>
              </a:spcBef>
            </a:pPr>
            <a:r>
              <a:rPr lang="en-US" sz="1300">
                <a:solidFill>
                  <a:srgbClr val="404040"/>
                </a:solidFill>
              </a:rPr>
              <a:t>Losing one or two big accounts could swing the yearly total materially.</a:t>
            </a:r>
          </a:p>
        </p:txBody>
      </p:sp>
      <p:sp>
        <p:nvSpPr>
          <p:cNvPr id="112" name="RowCard4"/>
          <p:cNvSpPr/>
          <p:nvPr/>
        </p:nvSpPr>
        <p:spPr>
          <a:xfrm>
            <a:off x="457200" y="5660000"/>
            <a:ext cx="8229600" cy="9800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3" name="Badge4"/>
          <p:cNvSpPr/>
          <p:nvPr/>
        </p:nvSpPr>
        <p:spPr>
          <a:xfrm>
            <a:off x="637200" y="5840000"/>
            <a:ext cx="620000" cy="620000"/>
          </a:xfrm>
          <a:prstGeom prst="ellipse">
            <a:avLst/>
          </a:prstGeom>
          <a:solidFill>
            <a:srgbClr val="1F497D"/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2000" b="1">
                <a:solidFill>
                  <a:srgbClr val="FFFFFF"/>
                </a:solidFill>
              </a:rPr>
              <a:t>15</a:t>
            </a:r>
          </a:p>
        </p:txBody>
      </p:sp>
      <p:sp>
        <p:nvSpPr>
          <p:cNvPr id="114" name="Txt4"/>
          <p:cNvSpPr txBox="1"/>
          <p:nvPr/>
        </p:nvSpPr>
        <p:spPr>
          <a:xfrm>
            <a:off x="1480000" y="5660000"/>
            <a:ext cx="7080000" cy="980000"/>
          </a:xfrm>
          <a:prstGeom prst="rect">
            <a:avLst/>
          </a:prstGeom>
          <a:noFill/>
        </p:spPr>
        <p:txBody>
          <a:bodyPr wrap="square" lIns="120000" tIns="60000" rIns="160000" bIns="60000" anchor="ctr"/>
          <a:lstStyle/>
          <a:p>
            <a:r>
              <a:rPr lang="en-US" sz="1600" b="1">
                <a:solidFill>
                  <a:srgbClr val="1F497D"/>
                </a:solidFill>
              </a:rPr>
              <a:t>New customers go untracked</a:t>
            </a:r>
          </a:p>
          <a:p>
            <a:pPr>
              <a:spcBef>
                <a:spcPts val="300"/>
              </a:spcBef>
            </a:pPr>
            <a:r>
              <a:rPr lang="en-US" sz="1300">
                <a:solidFill>
                  <a:srgbClr val="404040"/>
                </a:solidFill>
              </a:rPr>
              <a:t>There’s no net-new account metric — yet it is essential to reach ₹50 lakhs.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Square"/>
          <p:cNvSpPr/>
          <p:nvPr/>
        </p:nvSpPr>
        <p:spPr>
          <a:xfrm>
            <a:off x="457200" y="470000"/>
            <a:ext cx="140000" cy="140000"/>
          </a:xfrm>
          <a:prstGeom prst="rect">
            <a:avLst/>
          </a:prstGeom>
          <a:solidFill>
            <a:srgbClr val="4BACC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" name="Title"/>
          <p:cNvSpPr txBox="1"/>
          <p:nvPr/>
        </p:nvSpPr>
        <p:spPr>
          <a:xfrm>
            <a:off x="700000" y="380000"/>
            <a:ext cx="6300000" cy="7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2800" b="1">
                <a:solidFill>
                  <a:srgbClr val="1F497D"/>
                </a:solidFill>
              </a:rPr>
              <a:t>Seasonality &amp; Trends</a:t>
            </a:r>
          </a:p>
        </p:txBody>
      </p:sp>
      <p:sp>
        <p:nvSpPr>
          <p:cNvPr id="22" name="Tag"/>
          <p:cNvSpPr/>
          <p:nvPr/>
        </p:nvSpPr>
        <p:spPr>
          <a:xfrm>
            <a:off x="6837000" y="450000"/>
            <a:ext cx="1849800" cy="430000"/>
          </a:xfrm>
          <a:prstGeom prst="roundRect">
            <a:avLst>
              <a:gd name="adj" fmla="val 25000"/>
            </a:avLst>
          </a:prstGeom>
          <a:solidFill>
            <a:srgbClr val="1F497D"/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1200" b="1" spc="100">
                <a:solidFill>
                  <a:srgbClr val="FFFFFF"/>
                </a:solidFill>
              </a:rPr>
              <a:t>INSIGHTS 16–20 / 25</a:t>
            </a:r>
          </a:p>
        </p:txBody>
      </p:sp>
      <p:sp>
        <p:nvSpPr>
          <p:cNvPr id="100" name="RowCard0"/>
          <p:cNvSpPr/>
          <p:nvPr/>
        </p:nvSpPr>
        <p:spPr>
          <a:xfrm>
            <a:off x="457200" y="1500000"/>
            <a:ext cx="8229600" cy="9800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1" name="Badge0"/>
          <p:cNvSpPr/>
          <p:nvPr/>
        </p:nvSpPr>
        <p:spPr>
          <a:xfrm>
            <a:off x="637200" y="1680000"/>
            <a:ext cx="620000" cy="620000"/>
          </a:xfrm>
          <a:prstGeom prst="ellipse">
            <a:avLst/>
          </a:prstGeom>
          <a:solidFill>
            <a:srgbClr val="1F497D"/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2000" b="1">
                <a:solidFill>
                  <a:srgbClr val="FFFFFF"/>
                </a:solidFill>
              </a:rPr>
              <a:t>16</a:t>
            </a:r>
          </a:p>
        </p:txBody>
      </p:sp>
      <p:sp>
        <p:nvSpPr>
          <p:cNvPr id="102" name="Txt0"/>
          <p:cNvSpPr txBox="1"/>
          <p:nvPr/>
        </p:nvSpPr>
        <p:spPr>
          <a:xfrm>
            <a:off x="1480000" y="1500000"/>
            <a:ext cx="7080000" cy="980000"/>
          </a:xfrm>
          <a:prstGeom prst="rect">
            <a:avLst/>
          </a:prstGeom>
          <a:noFill/>
        </p:spPr>
        <p:txBody>
          <a:bodyPr wrap="square" lIns="120000" tIns="60000" rIns="160000" bIns="60000" anchor="ctr"/>
          <a:lstStyle/>
          <a:p>
            <a:r>
              <a:rPr lang="en-US" sz="1600" b="1">
                <a:solidFill>
                  <a:srgbClr val="1F497D"/>
                </a:solidFill>
              </a:rPr>
              <a:t>Demand is lumpy, not flat</a:t>
            </a:r>
          </a:p>
          <a:p>
            <a:pPr>
              <a:spcBef>
                <a:spcPts val="300"/>
              </a:spcBef>
            </a:pPr>
            <a:r>
              <a:rPr lang="en-US" sz="1300">
                <a:solidFill>
                  <a:srgbClr val="404040"/>
                </a:solidFill>
              </a:rPr>
              <a:t>Monthly Sales Trends swings month to month — sales are event and season driven.</a:t>
            </a:r>
          </a:p>
        </p:txBody>
      </p:sp>
      <p:sp>
        <p:nvSpPr>
          <p:cNvPr id="103" name="RowCard1"/>
          <p:cNvSpPr/>
          <p:nvPr/>
        </p:nvSpPr>
        <p:spPr>
          <a:xfrm>
            <a:off x="457200" y="2540000"/>
            <a:ext cx="8229600" cy="9800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4" name="Badge1"/>
          <p:cNvSpPr/>
          <p:nvPr/>
        </p:nvSpPr>
        <p:spPr>
          <a:xfrm>
            <a:off x="637200" y="2720000"/>
            <a:ext cx="620000" cy="620000"/>
          </a:xfrm>
          <a:prstGeom prst="ellipse">
            <a:avLst/>
          </a:prstGeom>
          <a:solidFill>
            <a:srgbClr val="1F497D"/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2000" b="1">
                <a:solidFill>
                  <a:srgbClr val="FFFFFF"/>
                </a:solidFill>
              </a:rPr>
              <a:t>17</a:t>
            </a:r>
          </a:p>
        </p:txBody>
      </p:sp>
      <p:sp>
        <p:nvSpPr>
          <p:cNvPr id="105" name="Txt1"/>
          <p:cNvSpPr txBox="1"/>
          <p:nvPr/>
        </p:nvSpPr>
        <p:spPr>
          <a:xfrm>
            <a:off x="1480000" y="2540000"/>
            <a:ext cx="7080000" cy="980000"/>
          </a:xfrm>
          <a:prstGeom prst="rect">
            <a:avLst/>
          </a:prstGeom>
          <a:noFill/>
        </p:spPr>
        <p:txBody>
          <a:bodyPr wrap="square" lIns="120000" tIns="60000" rIns="160000" bIns="60000" anchor="ctr"/>
          <a:lstStyle/>
          <a:p>
            <a:r>
              <a:rPr lang="en-US" sz="1600" b="1">
                <a:solidFill>
                  <a:srgbClr val="1F497D"/>
                </a:solidFill>
              </a:rPr>
              <a:t>Clear peak months exist</a:t>
            </a:r>
          </a:p>
          <a:p>
            <a:pPr>
              <a:spcBef>
                <a:spcPts val="300"/>
              </a:spcBef>
            </a:pPr>
            <a:r>
              <a:rPr lang="en-US" sz="1300">
                <a:solidFill>
                  <a:srgbClr val="404040"/>
                </a:solidFill>
              </a:rPr>
              <a:t>Festive, wedding and bulk-buying windows deserve pre-stock and a sales push.</a:t>
            </a:r>
          </a:p>
        </p:txBody>
      </p:sp>
      <p:sp>
        <p:nvSpPr>
          <p:cNvPr id="106" name="RowCard2"/>
          <p:cNvSpPr/>
          <p:nvPr/>
        </p:nvSpPr>
        <p:spPr>
          <a:xfrm>
            <a:off x="457200" y="3580000"/>
            <a:ext cx="8229600" cy="9800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7" name="Badge2"/>
          <p:cNvSpPr/>
          <p:nvPr/>
        </p:nvSpPr>
        <p:spPr>
          <a:xfrm>
            <a:off x="637200" y="3760000"/>
            <a:ext cx="620000" cy="620000"/>
          </a:xfrm>
          <a:prstGeom prst="ellipse">
            <a:avLst/>
          </a:prstGeom>
          <a:solidFill>
            <a:srgbClr val="1F497D"/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2000" b="1">
                <a:solidFill>
                  <a:srgbClr val="FFFFFF"/>
                </a:solidFill>
              </a:rPr>
              <a:t>18</a:t>
            </a:r>
          </a:p>
        </p:txBody>
      </p:sp>
      <p:sp>
        <p:nvSpPr>
          <p:cNvPr id="108" name="Txt2"/>
          <p:cNvSpPr txBox="1"/>
          <p:nvPr/>
        </p:nvSpPr>
        <p:spPr>
          <a:xfrm>
            <a:off x="1480000" y="3580000"/>
            <a:ext cx="7080000" cy="980000"/>
          </a:xfrm>
          <a:prstGeom prst="rect">
            <a:avLst/>
          </a:prstGeom>
          <a:noFill/>
        </p:spPr>
        <p:txBody>
          <a:bodyPr wrap="square" lIns="120000" tIns="60000" rIns="160000" bIns="60000" anchor="ctr"/>
          <a:lstStyle/>
          <a:p>
            <a:r>
              <a:rPr lang="en-US" sz="1600" b="1">
                <a:solidFill>
                  <a:srgbClr val="1F497D"/>
                </a:solidFill>
              </a:rPr>
              <a:t>Troughs drag the year down</a:t>
            </a:r>
          </a:p>
          <a:p>
            <a:pPr>
              <a:spcBef>
                <a:spcPts val="300"/>
              </a:spcBef>
            </a:pPr>
            <a:r>
              <a:rPr lang="en-US" sz="1300">
                <a:solidFill>
                  <a:srgbClr val="404040"/>
                </a:solidFill>
              </a:rPr>
              <a:t>Filling even two slow months lifts the annual total meaningfully.</a:t>
            </a:r>
          </a:p>
        </p:txBody>
      </p:sp>
      <p:sp>
        <p:nvSpPr>
          <p:cNvPr id="109" name="RowCard3"/>
          <p:cNvSpPr/>
          <p:nvPr/>
        </p:nvSpPr>
        <p:spPr>
          <a:xfrm>
            <a:off x="457200" y="4620000"/>
            <a:ext cx="8229600" cy="9800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0" name="Badge3"/>
          <p:cNvSpPr/>
          <p:nvPr/>
        </p:nvSpPr>
        <p:spPr>
          <a:xfrm>
            <a:off x="637200" y="4800000"/>
            <a:ext cx="620000" cy="620000"/>
          </a:xfrm>
          <a:prstGeom prst="ellipse">
            <a:avLst/>
          </a:prstGeom>
          <a:solidFill>
            <a:srgbClr val="1F497D"/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2000" b="1">
                <a:solidFill>
                  <a:srgbClr val="FFFFFF"/>
                </a:solidFill>
              </a:rPr>
              <a:t>19</a:t>
            </a:r>
          </a:p>
        </p:txBody>
      </p:sp>
      <p:sp>
        <p:nvSpPr>
          <p:cNvPr id="111" name="Txt3"/>
          <p:cNvSpPr txBox="1"/>
          <p:nvPr/>
        </p:nvSpPr>
        <p:spPr>
          <a:xfrm>
            <a:off x="1480000" y="4620000"/>
            <a:ext cx="7080000" cy="980000"/>
          </a:xfrm>
          <a:prstGeom prst="rect">
            <a:avLst/>
          </a:prstGeom>
          <a:noFill/>
        </p:spPr>
        <p:txBody>
          <a:bodyPr wrap="square" lIns="120000" tIns="60000" rIns="160000" bIns="60000" anchor="ctr"/>
          <a:lstStyle/>
          <a:p>
            <a:r>
              <a:rPr lang="en-US" sz="1600" b="1">
                <a:solidFill>
                  <a:srgbClr val="1F497D"/>
                </a:solidFill>
              </a:rPr>
              <a:t>The trajectory is the question</a:t>
            </a:r>
          </a:p>
          <a:p>
            <a:pPr>
              <a:spcBef>
                <a:spcPts val="300"/>
              </a:spcBef>
            </a:pPr>
            <a:r>
              <a:rPr lang="en-US" sz="1300">
                <a:solidFill>
                  <a:srgbClr val="404040"/>
                </a:solidFill>
              </a:rPr>
              <a:t>Is the 2023 to 2026 run-rate rising, flat, or fading? Planning must start here.</a:t>
            </a:r>
          </a:p>
        </p:txBody>
      </p:sp>
      <p:sp>
        <p:nvSpPr>
          <p:cNvPr id="112" name="RowCard4"/>
          <p:cNvSpPr/>
          <p:nvPr/>
        </p:nvSpPr>
        <p:spPr>
          <a:xfrm>
            <a:off x="457200" y="5660000"/>
            <a:ext cx="8229600" cy="9800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3" name="Badge4"/>
          <p:cNvSpPr/>
          <p:nvPr/>
        </p:nvSpPr>
        <p:spPr>
          <a:xfrm>
            <a:off x="637200" y="5840000"/>
            <a:ext cx="620000" cy="620000"/>
          </a:xfrm>
          <a:prstGeom prst="ellipse">
            <a:avLst/>
          </a:prstGeom>
          <a:solidFill>
            <a:srgbClr val="1F497D"/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2000" b="1">
                <a:solidFill>
                  <a:srgbClr val="FFFFFF"/>
                </a:solidFill>
              </a:rPr>
              <a:t>20</a:t>
            </a:r>
          </a:p>
        </p:txBody>
      </p:sp>
      <p:sp>
        <p:nvSpPr>
          <p:cNvPr id="114" name="Txt4"/>
          <p:cNvSpPr txBox="1"/>
          <p:nvPr/>
        </p:nvSpPr>
        <p:spPr>
          <a:xfrm>
            <a:off x="1480000" y="5660000"/>
            <a:ext cx="7080000" cy="980000"/>
          </a:xfrm>
          <a:prstGeom prst="rect">
            <a:avLst/>
          </a:prstGeom>
          <a:noFill/>
        </p:spPr>
        <p:txBody>
          <a:bodyPr wrap="square" lIns="120000" tIns="60000" rIns="160000" bIns="60000" anchor="ctr"/>
          <a:lstStyle/>
          <a:p>
            <a:r>
              <a:rPr lang="en-US" sz="1600" b="1">
                <a:solidFill>
                  <a:srgbClr val="1F497D"/>
                </a:solidFill>
              </a:rPr>
              <a:t>Seasonality makes revenue forecastable</a:t>
            </a:r>
          </a:p>
          <a:p>
            <a:pPr>
              <a:spcBef>
                <a:spcPts val="300"/>
              </a:spcBef>
            </a:pPr>
            <a:r>
              <a:rPr lang="en-US" sz="1300">
                <a:solidFill>
                  <a:srgbClr val="404040"/>
                </a:solidFill>
              </a:rPr>
              <a:t>Set monthly milestones instead of chasing one yearly number.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Square"/>
          <p:cNvSpPr/>
          <p:nvPr/>
        </p:nvSpPr>
        <p:spPr>
          <a:xfrm>
            <a:off x="457200" y="470000"/>
            <a:ext cx="140000" cy="140000"/>
          </a:xfrm>
          <a:prstGeom prst="rect">
            <a:avLst/>
          </a:prstGeom>
          <a:solidFill>
            <a:srgbClr val="4BACC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" name="Title"/>
          <p:cNvSpPr txBox="1"/>
          <p:nvPr/>
        </p:nvSpPr>
        <p:spPr>
          <a:xfrm>
            <a:off x="700000" y="380000"/>
            <a:ext cx="6300000" cy="7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2800" b="1">
                <a:solidFill>
                  <a:srgbClr val="1F497D"/>
                </a:solidFill>
              </a:rPr>
              <a:t>Pricing &amp; Order Value</a:t>
            </a:r>
          </a:p>
        </p:txBody>
      </p:sp>
      <p:sp>
        <p:nvSpPr>
          <p:cNvPr id="22" name="Tag"/>
          <p:cNvSpPr/>
          <p:nvPr/>
        </p:nvSpPr>
        <p:spPr>
          <a:xfrm>
            <a:off x="6837000" y="450000"/>
            <a:ext cx="1849800" cy="430000"/>
          </a:xfrm>
          <a:prstGeom prst="roundRect">
            <a:avLst>
              <a:gd name="adj" fmla="val 25000"/>
            </a:avLst>
          </a:prstGeom>
          <a:solidFill>
            <a:srgbClr val="1F497D"/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1200" b="1" spc="100">
                <a:solidFill>
                  <a:srgbClr val="FFFFFF"/>
                </a:solidFill>
              </a:rPr>
              <a:t>INSIGHTS 21–25 / 25</a:t>
            </a:r>
          </a:p>
        </p:txBody>
      </p:sp>
      <p:sp>
        <p:nvSpPr>
          <p:cNvPr id="100" name="RowCard0"/>
          <p:cNvSpPr/>
          <p:nvPr/>
        </p:nvSpPr>
        <p:spPr>
          <a:xfrm>
            <a:off x="457200" y="1500000"/>
            <a:ext cx="8229600" cy="9800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1" name="Badge0"/>
          <p:cNvSpPr/>
          <p:nvPr/>
        </p:nvSpPr>
        <p:spPr>
          <a:xfrm>
            <a:off x="637200" y="1680000"/>
            <a:ext cx="620000" cy="620000"/>
          </a:xfrm>
          <a:prstGeom prst="ellipse">
            <a:avLst/>
          </a:prstGeom>
          <a:solidFill>
            <a:srgbClr val="1F497D"/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2000" b="1">
                <a:solidFill>
                  <a:srgbClr val="FFFFFF"/>
                </a:solidFill>
              </a:rPr>
              <a:t>21</a:t>
            </a:r>
          </a:p>
        </p:txBody>
      </p:sp>
      <p:sp>
        <p:nvSpPr>
          <p:cNvPr id="102" name="Txt0"/>
          <p:cNvSpPr txBox="1"/>
          <p:nvPr/>
        </p:nvSpPr>
        <p:spPr>
          <a:xfrm>
            <a:off x="1480000" y="1500000"/>
            <a:ext cx="7080000" cy="980000"/>
          </a:xfrm>
          <a:prstGeom prst="rect">
            <a:avLst/>
          </a:prstGeom>
          <a:noFill/>
        </p:spPr>
        <p:txBody>
          <a:bodyPr wrap="square" lIns="120000" tIns="60000" rIns="160000" bIns="60000" anchor="ctr"/>
          <a:lstStyle/>
          <a:p>
            <a:r>
              <a:rPr lang="en-US" sz="1600" b="1">
                <a:solidFill>
                  <a:srgbClr val="1F497D"/>
                </a:solidFill>
              </a:rPr>
              <a:t>Room above the average</a:t>
            </a:r>
          </a:p>
          <a:p>
            <a:pPr>
              <a:spcBef>
                <a:spcPts val="300"/>
              </a:spcBef>
            </a:pPr>
            <a:r>
              <a:rPr lang="en-US" sz="1300">
                <a:solidFill>
                  <a:srgbClr val="404040"/>
                </a:solidFill>
              </a:rPr>
              <a:t>₹29,770 suggests a premium tier the catalogue may be under-selling.</a:t>
            </a:r>
          </a:p>
        </p:txBody>
      </p:sp>
      <p:sp>
        <p:nvSpPr>
          <p:cNvPr id="103" name="RowCard1"/>
          <p:cNvSpPr/>
          <p:nvPr/>
        </p:nvSpPr>
        <p:spPr>
          <a:xfrm>
            <a:off x="457200" y="2540000"/>
            <a:ext cx="8229600" cy="9800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4" name="Badge1"/>
          <p:cNvSpPr/>
          <p:nvPr/>
        </p:nvSpPr>
        <p:spPr>
          <a:xfrm>
            <a:off x="637200" y="2720000"/>
            <a:ext cx="620000" cy="620000"/>
          </a:xfrm>
          <a:prstGeom prst="ellipse">
            <a:avLst/>
          </a:prstGeom>
          <a:solidFill>
            <a:srgbClr val="1F497D"/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2000" b="1">
                <a:solidFill>
                  <a:srgbClr val="FFFFFF"/>
                </a:solidFill>
              </a:rPr>
              <a:t>22</a:t>
            </a:r>
          </a:p>
        </p:txBody>
      </p:sp>
      <p:sp>
        <p:nvSpPr>
          <p:cNvPr id="105" name="Txt1"/>
          <p:cNvSpPr txBox="1"/>
          <p:nvPr/>
        </p:nvSpPr>
        <p:spPr>
          <a:xfrm>
            <a:off x="1480000" y="2540000"/>
            <a:ext cx="7080000" cy="980000"/>
          </a:xfrm>
          <a:prstGeom prst="rect">
            <a:avLst/>
          </a:prstGeom>
          <a:noFill/>
        </p:spPr>
        <p:txBody>
          <a:bodyPr wrap="square" lIns="120000" tIns="60000" rIns="160000" bIns="60000" anchor="ctr"/>
          <a:lstStyle/>
          <a:p>
            <a:r>
              <a:rPr lang="en-US" sz="1600" b="1">
                <a:solidFill>
                  <a:srgbClr val="1F497D"/>
                </a:solidFill>
              </a:rPr>
              <a:t>Small value gains, big effect</a:t>
            </a:r>
          </a:p>
          <a:p>
            <a:pPr>
              <a:spcBef>
                <a:spcPts val="300"/>
              </a:spcBef>
            </a:pPr>
            <a:r>
              <a:rPr lang="en-US" sz="1300">
                <a:solidFill>
                  <a:srgbClr val="404040"/>
                </a:solidFill>
              </a:rPr>
              <a:t>A 15% higher average cuts the invoices needed for ₹50 lakhs by the same share.</a:t>
            </a:r>
          </a:p>
        </p:txBody>
      </p:sp>
      <p:sp>
        <p:nvSpPr>
          <p:cNvPr id="106" name="RowCard2"/>
          <p:cNvSpPr/>
          <p:nvPr/>
        </p:nvSpPr>
        <p:spPr>
          <a:xfrm>
            <a:off x="457200" y="3580000"/>
            <a:ext cx="8229600" cy="9800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7" name="Badge2"/>
          <p:cNvSpPr/>
          <p:nvPr/>
        </p:nvSpPr>
        <p:spPr>
          <a:xfrm>
            <a:off x="637200" y="3760000"/>
            <a:ext cx="620000" cy="620000"/>
          </a:xfrm>
          <a:prstGeom prst="ellipse">
            <a:avLst/>
          </a:prstGeom>
          <a:solidFill>
            <a:srgbClr val="1F497D"/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2000" b="1">
                <a:solidFill>
                  <a:srgbClr val="FFFFFF"/>
                </a:solidFill>
              </a:rPr>
              <a:t>23</a:t>
            </a:r>
          </a:p>
        </p:txBody>
      </p:sp>
      <p:sp>
        <p:nvSpPr>
          <p:cNvPr id="108" name="Txt2"/>
          <p:cNvSpPr txBox="1"/>
          <p:nvPr/>
        </p:nvSpPr>
        <p:spPr>
          <a:xfrm>
            <a:off x="1480000" y="3580000"/>
            <a:ext cx="7080000" cy="980000"/>
          </a:xfrm>
          <a:prstGeom prst="rect">
            <a:avLst/>
          </a:prstGeom>
          <a:noFill/>
        </p:spPr>
        <p:txBody>
          <a:bodyPr wrap="square" lIns="120000" tIns="60000" rIns="160000" bIns="60000" anchor="ctr"/>
          <a:lstStyle/>
          <a:p>
            <a:r>
              <a:rPr lang="en-US" sz="1600" b="1">
                <a:solidFill>
                  <a:srgbClr val="1F497D"/>
                </a:solidFill>
              </a:rPr>
              <a:t>Bundling lifts the ticket</a:t>
            </a:r>
          </a:p>
          <a:p>
            <a:pPr>
              <a:spcBef>
                <a:spcPts val="300"/>
              </a:spcBef>
            </a:pPr>
            <a:r>
              <a:rPr lang="en-US" sz="1300">
                <a:solidFill>
                  <a:srgbClr val="404040"/>
                </a:solidFill>
              </a:rPr>
              <a:t>Sets, GSM tiers and gift packs raise average value without discounting.</a:t>
            </a:r>
          </a:p>
        </p:txBody>
      </p:sp>
      <p:sp>
        <p:nvSpPr>
          <p:cNvPr id="109" name="RowCard3"/>
          <p:cNvSpPr/>
          <p:nvPr/>
        </p:nvSpPr>
        <p:spPr>
          <a:xfrm>
            <a:off x="457200" y="4620000"/>
            <a:ext cx="8229600" cy="9800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0" name="Badge3"/>
          <p:cNvSpPr/>
          <p:nvPr/>
        </p:nvSpPr>
        <p:spPr>
          <a:xfrm>
            <a:off x="637200" y="4800000"/>
            <a:ext cx="620000" cy="620000"/>
          </a:xfrm>
          <a:prstGeom prst="ellipse">
            <a:avLst/>
          </a:prstGeom>
          <a:solidFill>
            <a:srgbClr val="1F497D"/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2000" b="1">
                <a:solidFill>
                  <a:srgbClr val="FFFFFF"/>
                </a:solidFill>
              </a:rPr>
              <a:t>24</a:t>
            </a:r>
          </a:p>
        </p:txBody>
      </p:sp>
      <p:sp>
        <p:nvSpPr>
          <p:cNvPr id="111" name="Txt3"/>
          <p:cNvSpPr txBox="1"/>
          <p:nvPr/>
        </p:nvSpPr>
        <p:spPr>
          <a:xfrm>
            <a:off x="1480000" y="4620000"/>
            <a:ext cx="7080000" cy="980000"/>
          </a:xfrm>
          <a:prstGeom prst="rect">
            <a:avLst/>
          </a:prstGeom>
          <a:noFill/>
        </p:spPr>
        <p:txBody>
          <a:bodyPr wrap="square" lIns="120000" tIns="60000" rIns="160000" bIns="60000" anchor="ctr"/>
          <a:lstStyle/>
          <a:p>
            <a:r>
              <a:rPr lang="en-US" sz="1600" b="1">
                <a:solidFill>
                  <a:srgbClr val="1F497D"/>
                </a:solidFill>
              </a:rPr>
              <a:t>Flat pricing leaves money on the table</a:t>
            </a:r>
          </a:p>
          <a:p>
            <a:pPr>
              <a:spcBef>
                <a:spcPts val="300"/>
              </a:spcBef>
            </a:pPr>
            <a:r>
              <a:rPr lang="en-US" sz="1300">
                <a:solidFill>
                  <a:srgbClr val="404040"/>
                </a:solidFill>
              </a:rPr>
              <a:t>Tiered and volume pricing can grow both value and loyalty.</a:t>
            </a:r>
          </a:p>
        </p:txBody>
      </p:sp>
      <p:sp>
        <p:nvSpPr>
          <p:cNvPr id="112" name="RowCard4"/>
          <p:cNvSpPr/>
          <p:nvPr/>
        </p:nvSpPr>
        <p:spPr>
          <a:xfrm>
            <a:off x="457200" y="5660000"/>
            <a:ext cx="8229600" cy="9800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3" name="Badge4"/>
          <p:cNvSpPr/>
          <p:nvPr/>
        </p:nvSpPr>
        <p:spPr>
          <a:xfrm>
            <a:off x="637200" y="5840000"/>
            <a:ext cx="620000" cy="620000"/>
          </a:xfrm>
          <a:prstGeom prst="ellipse">
            <a:avLst/>
          </a:prstGeom>
          <a:solidFill>
            <a:srgbClr val="1F497D"/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2000" b="1">
                <a:solidFill>
                  <a:srgbClr val="FFFFFF"/>
                </a:solidFill>
              </a:rPr>
              <a:t>25</a:t>
            </a:r>
          </a:p>
        </p:txBody>
      </p:sp>
      <p:sp>
        <p:nvSpPr>
          <p:cNvPr id="114" name="Txt4"/>
          <p:cNvSpPr txBox="1"/>
          <p:nvPr/>
        </p:nvSpPr>
        <p:spPr>
          <a:xfrm>
            <a:off x="1480000" y="5660000"/>
            <a:ext cx="7080000" cy="980000"/>
          </a:xfrm>
          <a:prstGeom prst="rect">
            <a:avLst/>
          </a:prstGeom>
          <a:noFill/>
        </p:spPr>
        <p:txBody>
          <a:bodyPr wrap="square" lIns="120000" tIns="60000" rIns="160000" bIns="60000" anchor="ctr"/>
          <a:lstStyle/>
          <a:p>
            <a:r>
              <a:rPr lang="en-US" sz="1600" b="1">
                <a:solidFill>
                  <a:srgbClr val="1F497D"/>
                </a:solidFill>
              </a:rPr>
              <a:t>Two dials, every lever</a:t>
            </a:r>
          </a:p>
          <a:p>
            <a:pPr>
              <a:spcBef>
                <a:spcPts val="300"/>
              </a:spcBef>
            </a:pPr>
            <a:r>
              <a:rPr lang="en-US" sz="1300">
                <a:solidFill>
                  <a:srgbClr val="404040"/>
                </a:solidFill>
              </a:rPr>
              <a:t>Invoices and value per invoice — every modification ahead moves one of them.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Square"/>
          <p:cNvSpPr/>
          <p:nvPr/>
        </p:nvSpPr>
        <p:spPr>
          <a:xfrm>
            <a:off x="457200" y="470000"/>
            <a:ext cx="140000" cy="140000"/>
          </a:xfrm>
          <a:prstGeom prst="rect">
            <a:avLst/>
          </a:prstGeom>
          <a:solidFill>
            <a:srgbClr val="4BACC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" name="Title"/>
          <p:cNvSpPr txBox="1"/>
          <p:nvPr/>
        </p:nvSpPr>
        <p:spPr>
          <a:xfrm>
            <a:off x="700000" y="380000"/>
            <a:ext cx="6300000" cy="7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2800" b="1">
                <a:solidFill>
                  <a:srgbClr val="1F497D"/>
                </a:solidFill>
              </a:rPr>
              <a:t>10 Moves to ₹50 Lakhs</a:t>
            </a:r>
          </a:p>
        </p:txBody>
      </p:sp>
      <p:sp>
        <p:nvSpPr>
          <p:cNvPr id="22" name="Tag"/>
          <p:cNvSpPr/>
          <p:nvPr/>
        </p:nvSpPr>
        <p:spPr>
          <a:xfrm>
            <a:off x="6987000" y="450000"/>
            <a:ext cx="1699800" cy="430000"/>
          </a:xfrm>
          <a:prstGeom prst="roundRect">
            <a:avLst>
              <a:gd name="adj" fmla="val 25000"/>
            </a:avLst>
          </a:prstGeom>
          <a:solidFill>
            <a:srgbClr val="1F497D"/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1200" b="1" spc="100">
                <a:solidFill>
                  <a:srgbClr val="FFFFFF"/>
                </a:solidFill>
              </a:rPr>
              <a:t>MOVES 1–5 / 10</a:t>
            </a:r>
          </a:p>
        </p:txBody>
      </p:sp>
      <p:sp>
        <p:nvSpPr>
          <p:cNvPr id="100" name="Card0"/>
          <p:cNvSpPr/>
          <p:nvPr/>
        </p:nvSpPr>
        <p:spPr>
          <a:xfrm>
            <a:off x="457200" y="1500000"/>
            <a:ext cx="8229600" cy="9800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1" name="Badge0"/>
          <p:cNvSpPr/>
          <p:nvPr/>
        </p:nvSpPr>
        <p:spPr>
          <a:xfrm>
            <a:off x="637200" y="1680000"/>
            <a:ext cx="620000" cy="620000"/>
          </a:xfrm>
          <a:prstGeom prst="ellipse">
            <a:avLst/>
          </a:prstGeom>
          <a:solidFill>
            <a:srgbClr val="1F497D"/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20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2" name="Txt0"/>
          <p:cNvSpPr txBox="1"/>
          <p:nvPr/>
        </p:nvSpPr>
        <p:spPr>
          <a:xfrm>
            <a:off x="1480000" y="1500000"/>
            <a:ext cx="5560000" cy="980000"/>
          </a:xfrm>
          <a:prstGeom prst="rect">
            <a:avLst/>
          </a:prstGeom>
          <a:noFill/>
        </p:spPr>
        <p:txBody>
          <a:bodyPr wrap="square" lIns="120000" tIns="60000" rIns="120000" bIns="60000" anchor="ctr"/>
          <a:lstStyle/>
          <a:p>
            <a:r>
              <a:rPr lang="en-US" sz="1600" b="1">
                <a:solidFill>
                  <a:srgbClr val="1F497D"/>
                </a:solidFill>
              </a:rPr>
              <a:t>Launch a Top-20 Key Account programme</a:t>
            </a:r>
          </a:p>
          <a:p>
            <a:pPr>
              <a:spcBef>
                <a:spcPts val="300"/>
              </a:spcBef>
            </a:pPr>
            <a:r>
              <a:rPr lang="en-US" sz="1250">
                <a:solidFill>
                  <a:srgbClr val="404040"/>
                </a:solidFill>
              </a:rPr>
              <a:t>Quarterly reviews and priority service to lock in re-orders from the accounts that drive revenue.</a:t>
            </a:r>
          </a:p>
        </p:txBody>
      </p:sp>
      <p:sp>
        <p:nvSpPr>
          <p:cNvPr id="103" name="Chip0"/>
          <p:cNvSpPr/>
          <p:nvPr/>
        </p:nvSpPr>
        <p:spPr>
          <a:xfrm>
            <a:off x="7150000" y="1810000"/>
            <a:ext cx="1380000" cy="380000"/>
          </a:xfrm>
          <a:prstGeom prst="roundRect">
            <a:avLst>
              <a:gd name="adj" fmla="val 30000"/>
            </a:avLst>
          </a:prstGeom>
          <a:solidFill>
            <a:srgbClr val="4BACC6"/>
          </a:solidFill>
          <a:ln>
            <a:noFill/>
          </a:ln>
        </p:spPr>
        <p:txBody>
          <a:bodyPr wrap="square" lIns="40000" tIns="0" rIns="40000" bIns="0" anchor="ctr"/>
          <a:lstStyle/>
          <a:p>
            <a:pPr algn="ctr"/>
            <a:r>
              <a:rPr lang="en-US" sz="1100" b="1">
                <a:solidFill>
                  <a:srgbClr val="FFFFFF"/>
                </a:solidFill>
              </a:rPr>
              <a:t>CUSTOMER</a:t>
            </a:r>
          </a:p>
        </p:txBody>
      </p:sp>
      <p:sp>
        <p:nvSpPr>
          <p:cNvPr id="104" name="Card1"/>
          <p:cNvSpPr/>
          <p:nvPr/>
        </p:nvSpPr>
        <p:spPr>
          <a:xfrm>
            <a:off x="457200" y="2540000"/>
            <a:ext cx="8229600" cy="9800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5" name="Badge1"/>
          <p:cNvSpPr/>
          <p:nvPr/>
        </p:nvSpPr>
        <p:spPr>
          <a:xfrm>
            <a:off x="637200" y="2720000"/>
            <a:ext cx="620000" cy="620000"/>
          </a:xfrm>
          <a:prstGeom prst="ellipse">
            <a:avLst/>
          </a:prstGeom>
          <a:solidFill>
            <a:srgbClr val="1F497D"/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20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6" name="Txt1"/>
          <p:cNvSpPr txBox="1"/>
          <p:nvPr/>
        </p:nvSpPr>
        <p:spPr>
          <a:xfrm>
            <a:off x="1480000" y="2540000"/>
            <a:ext cx="5560000" cy="980000"/>
          </a:xfrm>
          <a:prstGeom prst="rect">
            <a:avLst/>
          </a:prstGeom>
          <a:noFill/>
        </p:spPr>
        <p:txBody>
          <a:bodyPr wrap="square" lIns="120000" tIns="60000" rIns="120000" bIns="60000" anchor="ctr"/>
          <a:lstStyle/>
          <a:p>
            <a:r>
              <a:rPr lang="en-US" sz="1600" b="1">
                <a:solidFill>
                  <a:srgbClr val="1F497D"/>
                </a:solidFill>
              </a:rPr>
              <a:t>Run a win-back drive for dormant buyers</a:t>
            </a:r>
          </a:p>
          <a:p>
            <a:pPr>
              <a:spcBef>
                <a:spcPts val="300"/>
              </a:spcBef>
            </a:pPr>
            <a:r>
              <a:rPr lang="en-US" sz="1250">
                <a:solidFill>
                  <a:srgbClr val="404040"/>
                </a:solidFill>
              </a:rPr>
              <a:t>Target one-time and lapsed customers with a returning-customer offer.</a:t>
            </a:r>
          </a:p>
        </p:txBody>
      </p:sp>
      <p:sp>
        <p:nvSpPr>
          <p:cNvPr id="107" name="Chip1"/>
          <p:cNvSpPr/>
          <p:nvPr/>
        </p:nvSpPr>
        <p:spPr>
          <a:xfrm>
            <a:off x="7150000" y="2850000"/>
            <a:ext cx="1380000" cy="380000"/>
          </a:xfrm>
          <a:prstGeom prst="roundRect">
            <a:avLst>
              <a:gd name="adj" fmla="val 30000"/>
            </a:avLst>
          </a:prstGeom>
          <a:solidFill>
            <a:srgbClr val="4BACC6"/>
          </a:solidFill>
          <a:ln>
            <a:noFill/>
          </a:ln>
        </p:spPr>
        <p:txBody>
          <a:bodyPr wrap="square" lIns="40000" tIns="0" rIns="40000" bIns="0" anchor="ctr"/>
          <a:lstStyle/>
          <a:p>
            <a:pPr algn="ctr"/>
            <a:r>
              <a:rPr lang="en-US" sz="1100" b="1">
                <a:solidFill>
                  <a:srgbClr val="FFFFFF"/>
                </a:solidFill>
              </a:rPr>
              <a:t>CUSTOMER</a:t>
            </a:r>
          </a:p>
        </p:txBody>
      </p:sp>
      <p:sp>
        <p:nvSpPr>
          <p:cNvPr id="108" name="Card2"/>
          <p:cNvSpPr/>
          <p:nvPr/>
        </p:nvSpPr>
        <p:spPr>
          <a:xfrm>
            <a:off x="457200" y="3580000"/>
            <a:ext cx="8229600" cy="9800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9" name="Badge2"/>
          <p:cNvSpPr/>
          <p:nvPr/>
        </p:nvSpPr>
        <p:spPr>
          <a:xfrm>
            <a:off x="637200" y="3760000"/>
            <a:ext cx="620000" cy="620000"/>
          </a:xfrm>
          <a:prstGeom prst="ellipse">
            <a:avLst/>
          </a:prstGeom>
          <a:solidFill>
            <a:srgbClr val="1F497D"/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20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10" name="Txt2"/>
          <p:cNvSpPr txBox="1"/>
          <p:nvPr/>
        </p:nvSpPr>
        <p:spPr>
          <a:xfrm>
            <a:off x="1480000" y="3580000"/>
            <a:ext cx="5560000" cy="980000"/>
          </a:xfrm>
          <a:prstGeom prst="rect">
            <a:avLst/>
          </a:prstGeom>
          <a:noFill/>
        </p:spPr>
        <p:txBody>
          <a:bodyPr wrap="square" lIns="120000" tIns="60000" rIns="120000" bIns="60000" anchor="ctr"/>
          <a:lstStyle/>
          <a:p>
            <a:r>
              <a:rPr lang="en-US" sz="1600" b="1">
                <a:solidFill>
                  <a:srgbClr val="1F497D"/>
                </a:solidFill>
              </a:rPr>
              <a:t>Set a net-new customer target</a:t>
            </a:r>
          </a:p>
          <a:p>
            <a:pPr>
              <a:spcBef>
                <a:spcPts val="300"/>
              </a:spcBef>
            </a:pPr>
            <a:r>
              <a:rPr lang="en-US" sz="1250">
                <a:solidFill>
                  <a:srgbClr val="404040"/>
                </a:solidFill>
              </a:rPr>
              <a:t>Add a defined number of new accounts each quarter and track a new-customer cohort.</a:t>
            </a:r>
          </a:p>
        </p:txBody>
      </p:sp>
      <p:sp>
        <p:nvSpPr>
          <p:cNvPr id="111" name="Chip2"/>
          <p:cNvSpPr/>
          <p:nvPr/>
        </p:nvSpPr>
        <p:spPr>
          <a:xfrm>
            <a:off x="7150000" y="3890000"/>
            <a:ext cx="1380000" cy="380000"/>
          </a:xfrm>
          <a:prstGeom prst="roundRect">
            <a:avLst>
              <a:gd name="adj" fmla="val 30000"/>
            </a:avLst>
          </a:prstGeom>
          <a:solidFill>
            <a:srgbClr val="4BACC6"/>
          </a:solidFill>
          <a:ln>
            <a:noFill/>
          </a:ln>
        </p:spPr>
        <p:txBody>
          <a:bodyPr wrap="square" lIns="40000" tIns="0" rIns="40000" bIns="0" anchor="ctr"/>
          <a:lstStyle/>
          <a:p>
            <a:pPr algn="ctr"/>
            <a:r>
              <a:rPr lang="en-US" sz="1100" b="1">
                <a:solidFill>
                  <a:srgbClr val="FFFFFF"/>
                </a:solidFill>
              </a:rPr>
              <a:t>CUSTOMER</a:t>
            </a:r>
          </a:p>
        </p:txBody>
      </p:sp>
      <p:sp>
        <p:nvSpPr>
          <p:cNvPr id="112" name="Card3"/>
          <p:cNvSpPr/>
          <p:nvPr/>
        </p:nvSpPr>
        <p:spPr>
          <a:xfrm>
            <a:off x="457200" y="4620000"/>
            <a:ext cx="8229600" cy="9800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3" name="Badge3"/>
          <p:cNvSpPr/>
          <p:nvPr/>
        </p:nvSpPr>
        <p:spPr>
          <a:xfrm>
            <a:off x="637200" y="4800000"/>
            <a:ext cx="620000" cy="620000"/>
          </a:xfrm>
          <a:prstGeom prst="ellipse">
            <a:avLst/>
          </a:prstGeom>
          <a:solidFill>
            <a:srgbClr val="1F497D"/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20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14" name="Txt3"/>
          <p:cNvSpPr txBox="1"/>
          <p:nvPr/>
        </p:nvSpPr>
        <p:spPr>
          <a:xfrm>
            <a:off x="1480000" y="4620000"/>
            <a:ext cx="5560000" cy="980000"/>
          </a:xfrm>
          <a:prstGeom prst="rect">
            <a:avLst/>
          </a:prstGeom>
          <a:noFill/>
        </p:spPr>
        <p:txBody>
          <a:bodyPr wrap="square" lIns="120000" tIns="60000" rIns="120000" bIns="60000" anchor="ctr"/>
          <a:lstStyle/>
          <a:p>
            <a:r>
              <a:rPr lang="en-US" sz="1600" b="1">
                <a:solidFill>
                  <a:srgbClr val="1F497D"/>
                </a:solidFill>
              </a:rPr>
              <a:t>Give every agent a clear ₹ target</a:t>
            </a:r>
          </a:p>
          <a:p>
            <a:pPr>
              <a:spcBef>
                <a:spcPts val="300"/>
              </a:spcBef>
            </a:pPr>
            <a:r>
              <a:rPr lang="en-US" sz="1250">
                <a:solidFill>
                  <a:srgbClr val="404040"/>
                </a:solidFill>
              </a:rPr>
              <a:t>Tie individual goals to the ₹50 lakh plan with a monthly leaderboard.</a:t>
            </a:r>
          </a:p>
        </p:txBody>
      </p:sp>
      <p:sp>
        <p:nvSpPr>
          <p:cNvPr id="115" name="Chip3"/>
          <p:cNvSpPr/>
          <p:nvPr/>
        </p:nvSpPr>
        <p:spPr>
          <a:xfrm>
            <a:off x="7150000" y="4930000"/>
            <a:ext cx="1380000" cy="380000"/>
          </a:xfrm>
          <a:prstGeom prst="roundRect">
            <a:avLst>
              <a:gd name="adj" fmla="val 30000"/>
            </a:avLst>
          </a:prstGeom>
          <a:solidFill>
            <a:srgbClr val="8064A2"/>
          </a:solidFill>
          <a:ln>
            <a:noFill/>
          </a:ln>
        </p:spPr>
        <p:txBody>
          <a:bodyPr wrap="square" lIns="40000" tIns="0" rIns="40000" bIns="0" anchor="ctr"/>
          <a:lstStyle/>
          <a:p>
            <a:pPr algn="ctr"/>
            <a:r>
              <a:rPr lang="en-US" sz="1100" b="1">
                <a:solidFill>
                  <a:srgbClr val="FFFFFF"/>
                </a:solidFill>
              </a:rPr>
              <a:t>AGENT</a:t>
            </a:r>
          </a:p>
        </p:txBody>
      </p:sp>
      <p:sp>
        <p:nvSpPr>
          <p:cNvPr id="116" name="Card4"/>
          <p:cNvSpPr/>
          <p:nvPr/>
        </p:nvSpPr>
        <p:spPr>
          <a:xfrm>
            <a:off x="457200" y="5660000"/>
            <a:ext cx="8229600" cy="9800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7" name="Badge4"/>
          <p:cNvSpPr/>
          <p:nvPr/>
        </p:nvSpPr>
        <p:spPr>
          <a:xfrm>
            <a:off x="637200" y="5840000"/>
            <a:ext cx="620000" cy="620000"/>
          </a:xfrm>
          <a:prstGeom prst="ellipse">
            <a:avLst/>
          </a:prstGeom>
          <a:solidFill>
            <a:srgbClr val="1F497D"/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20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18" name="Txt4"/>
          <p:cNvSpPr txBox="1"/>
          <p:nvPr/>
        </p:nvSpPr>
        <p:spPr>
          <a:xfrm>
            <a:off x="1480000" y="5660000"/>
            <a:ext cx="5560000" cy="980000"/>
          </a:xfrm>
          <a:prstGeom prst="rect">
            <a:avLst/>
          </a:prstGeom>
          <a:noFill/>
        </p:spPr>
        <p:txBody>
          <a:bodyPr wrap="square" lIns="120000" tIns="60000" rIns="120000" bIns="60000" anchor="ctr"/>
          <a:lstStyle/>
          <a:p>
            <a:r>
              <a:rPr lang="en-US" sz="1600" b="1">
                <a:solidFill>
                  <a:srgbClr val="1F497D"/>
                </a:solidFill>
              </a:rPr>
              <a:t>Coach the bottom third to the median</a:t>
            </a:r>
          </a:p>
          <a:p>
            <a:pPr>
              <a:spcBef>
                <a:spcPts val="300"/>
              </a:spcBef>
            </a:pPr>
            <a:r>
              <a:rPr lang="en-US" sz="1250">
                <a:solidFill>
                  <a:srgbClr val="404040"/>
                </a:solidFill>
              </a:rPr>
              <a:t>Turn top performers’ approach into a playbook and train the rest of the team.</a:t>
            </a:r>
          </a:p>
        </p:txBody>
      </p:sp>
      <p:sp>
        <p:nvSpPr>
          <p:cNvPr id="119" name="Chip4"/>
          <p:cNvSpPr/>
          <p:nvPr/>
        </p:nvSpPr>
        <p:spPr>
          <a:xfrm>
            <a:off x="7150000" y="5970000"/>
            <a:ext cx="1380000" cy="380000"/>
          </a:xfrm>
          <a:prstGeom prst="roundRect">
            <a:avLst>
              <a:gd name="adj" fmla="val 30000"/>
            </a:avLst>
          </a:prstGeom>
          <a:solidFill>
            <a:srgbClr val="8064A2"/>
          </a:solidFill>
          <a:ln>
            <a:noFill/>
          </a:ln>
        </p:spPr>
        <p:txBody>
          <a:bodyPr wrap="square" lIns="40000" tIns="0" rIns="40000" bIns="0" anchor="ctr"/>
          <a:lstStyle/>
          <a:p>
            <a:pPr algn="ctr"/>
            <a:r>
              <a:rPr lang="en-US" sz="1100" b="1">
                <a:solidFill>
                  <a:srgbClr val="FFFFFF"/>
                </a:solidFill>
              </a:rPr>
              <a:t>AGENT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Square"/>
          <p:cNvSpPr/>
          <p:nvPr/>
        </p:nvSpPr>
        <p:spPr>
          <a:xfrm>
            <a:off x="457200" y="470000"/>
            <a:ext cx="140000" cy="140000"/>
          </a:xfrm>
          <a:prstGeom prst="rect">
            <a:avLst/>
          </a:prstGeom>
          <a:solidFill>
            <a:srgbClr val="4BACC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" name="Title"/>
          <p:cNvSpPr txBox="1"/>
          <p:nvPr/>
        </p:nvSpPr>
        <p:spPr>
          <a:xfrm>
            <a:off x="700000" y="380000"/>
            <a:ext cx="6300000" cy="7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2800" b="1">
                <a:solidFill>
                  <a:srgbClr val="1F497D"/>
                </a:solidFill>
              </a:rPr>
              <a:t>10 Moves to ₹50 Lakhs</a:t>
            </a:r>
          </a:p>
        </p:txBody>
      </p:sp>
      <p:sp>
        <p:nvSpPr>
          <p:cNvPr id="22" name="Tag"/>
          <p:cNvSpPr/>
          <p:nvPr/>
        </p:nvSpPr>
        <p:spPr>
          <a:xfrm>
            <a:off x="6987000" y="450000"/>
            <a:ext cx="1699800" cy="430000"/>
          </a:xfrm>
          <a:prstGeom prst="roundRect">
            <a:avLst>
              <a:gd name="adj" fmla="val 25000"/>
            </a:avLst>
          </a:prstGeom>
          <a:solidFill>
            <a:srgbClr val="1F497D"/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1200" b="1" spc="100">
                <a:solidFill>
                  <a:srgbClr val="FFFFFF"/>
                </a:solidFill>
              </a:rPr>
              <a:t>MOVES 6–10 / 10</a:t>
            </a:r>
          </a:p>
        </p:txBody>
      </p:sp>
      <p:sp>
        <p:nvSpPr>
          <p:cNvPr id="100" name="Card0"/>
          <p:cNvSpPr/>
          <p:nvPr/>
        </p:nvSpPr>
        <p:spPr>
          <a:xfrm>
            <a:off x="457200" y="1500000"/>
            <a:ext cx="8229600" cy="9800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1" name="Badge0"/>
          <p:cNvSpPr/>
          <p:nvPr/>
        </p:nvSpPr>
        <p:spPr>
          <a:xfrm>
            <a:off x="637200" y="1680000"/>
            <a:ext cx="620000" cy="620000"/>
          </a:xfrm>
          <a:prstGeom prst="ellipse">
            <a:avLst/>
          </a:prstGeom>
          <a:solidFill>
            <a:srgbClr val="1F497D"/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20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102" name="Txt0"/>
          <p:cNvSpPr txBox="1"/>
          <p:nvPr/>
        </p:nvSpPr>
        <p:spPr>
          <a:xfrm>
            <a:off x="1480000" y="1500000"/>
            <a:ext cx="5560000" cy="980000"/>
          </a:xfrm>
          <a:prstGeom prst="rect">
            <a:avLst/>
          </a:prstGeom>
          <a:noFill/>
        </p:spPr>
        <p:txBody>
          <a:bodyPr wrap="square" lIns="120000" tIns="60000" rIns="120000" bIns="60000" anchor="ctr"/>
          <a:lstStyle/>
          <a:p>
            <a:r>
              <a:rPr lang="en-US" sz="1600" b="1">
                <a:solidFill>
                  <a:srgbClr val="1F497D"/>
                </a:solidFill>
              </a:rPr>
              <a:t>Reward both volume and value</a:t>
            </a:r>
          </a:p>
          <a:p>
            <a:pPr>
              <a:spcBef>
                <a:spcPts val="300"/>
              </a:spcBef>
            </a:pPr>
            <a:r>
              <a:rPr lang="en-US" sz="1250">
                <a:solidFill>
                  <a:srgbClr val="404040"/>
                </a:solidFill>
              </a:rPr>
              <a:t>Tiered incentives that pay for more invoices and a higher average ticket.</a:t>
            </a:r>
          </a:p>
        </p:txBody>
      </p:sp>
      <p:sp>
        <p:nvSpPr>
          <p:cNvPr id="103" name="Chip0"/>
          <p:cNvSpPr/>
          <p:nvPr/>
        </p:nvSpPr>
        <p:spPr>
          <a:xfrm>
            <a:off x="7150000" y="1810000"/>
            <a:ext cx="1380000" cy="380000"/>
          </a:xfrm>
          <a:prstGeom prst="roundRect">
            <a:avLst>
              <a:gd name="adj" fmla="val 30000"/>
            </a:avLst>
          </a:prstGeom>
          <a:solidFill>
            <a:srgbClr val="8064A2"/>
          </a:solidFill>
          <a:ln>
            <a:noFill/>
          </a:ln>
        </p:spPr>
        <p:txBody>
          <a:bodyPr wrap="square" lIns="40000" tIns="0" rIns="40000" bIns="0" anchor="ctr"/>
          <a:lstStyle/>
          <a:p>
            <a:pPr algn="ctr"/>
            <a:r>
              <a:rPr lang="en-US" sz="1100" b="1">
                <a:solidFill>
                  <a:srgbClr val="FFFFFF"/>
                </a:solidFill>
              </a:rPr>
              <a:t>AGENT</a:t>
            </a:r>
          </a:p>
        </p:txBody>
      </p:sp>
      <p:sp>
        <p:nvSpPr>
          <p:cNvPr id="104" name="Card1"/>
          <p:cNvSpPr/>
          <p:nvPr/>
        </p:nvSpPr>
        <p:spPr>
          <a:xfrm>
            <a:off x="457200" y="2540000"/>
            <a:ext cx="8229600" cy="9800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5" name="Badge1"/>
          <p:cNvSpPr/>
          <p:nvPr/>
        </p:nvSpPr>
        <p:spPr>
          <a:xfrm>
            <a:off x="637200" y="2720000"/>
            <a:ext cx="620000" cy="620000"/>
          </a:xfrm>
          <a:prstGeom prst="ellipse">
            <a:avLst/>
          </a:prstGeom>
          <a:solidFill>
            <a:srgbClr val="1F497D"/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2000" b="1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106" name="Txt1"/>
          <p:cNvSpPr txBox="1"/>
          <p:nvPr/>
        </p:nvSpPr>
        <p:spPr>
          <a:xfrm>
            <a:off x="1480000" y="2540000"/>
            <a:ext cx="5560000" cy="980000"/>
          </a:xfrm>
          <a:prstGeom prst="rect">
            <a:avLst/>
          </a:prstGeom>
          <a:noFill/>
        </p:spPr>
        <p:txBody>
          <a:bodyPr wrap="square" lIns="120000" tIns="60000" rIns="120000" bIns="60000" anchor="ctr"/>
          <a:lstStyle/>
          <a:p>
            <a:r>
              <a:rPr lang="en-US" sz="1600" b="1">
                <a:solidFill>
                  <a:srgbClr val="1F497D"/>
                </a:solidFill>
              </a:rPr>
              <a:t>Build a seasonal sales calendar</a:t>
            </a:r>
          </a:p>
          <a:p>
            <a:pPr>
              <a:spcBef>
                <a:spcPts val="300"/>
              </a:spcBef>
            </a:pPr>
            <a:r>
              <a:rPr lang="en-US" sz="1250">
                <a:solidFill>
                  <a:srgbClr val="404040"/>
                </a:solidFill>
              </a:rPr>
              <a:t>Pre-stock and push in peak months; promote to fill the two weakest months.</a:t>
            </a:r>
          </a:p>
        </p:txBody>
      </p:sp>
      <p:sp>
        <p:nvSpPr>
          <p:cNvPr id="107" name="Chip1"/>
          <p:cNvSpPr/>
          <p:nvPr/>
        </p:nvSpPr>
        <p:spPr>
          <a:xfrm>
            <a:off x="7150000" y="2850000"/>
            <a:ext cx="1380000" cy="380000"/>
          </a:xfrm>
          <a:prstGeom prst="roundRect">
            <a:avLst>
              <a:gd name="adj" fmla="val 30000"/>
            </a:avLst>
          </a:prstGeom>
          <a:solidFill>
            <a:srgbClr val="F79646"/>
          </a:solidFill>
          <a:ln>
            <a:noFill/>
          </a:ln>
        </p:spPr>
        <p:txBody>
          <a:bodyPr wrap="square" lIns="40000" tIns="0" rIns="40000" bIns="0" anchor="ctr"/>
          <a:lstStyle/>
          <a:p>
            <a:pPr algn="ctr"/>
            <a:r>
              <a:rPr lang="en-US" sz="1100" b="1">
                <a:solidFill>
                  <a:srgbClr val="FFFFFF"/>
                </a:solidFill>
              </a:rPr>
              <a:t>SEASONALITY</a:t>
            </a:r>
          </a:p>
        </p:txBody>
      </p:sp>
      <p:sp>
        <p:nvSpPr>
          <p:cNvPr id="108" name="Card2"/>
          <p:cNvSpPr/>
          <p:nvPr/>
        </p:nvSpPr>
        <p:spPr>
          <a:xfrm>
            <a:off x="457200" y="3580000"/>
            <a:ext cx="8229600" cy="9800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9" name="Badge2"/>
          <p:cNvSpPr/>
          <p:nvPr/>
        </p:nvSpPr>
        <p:spPr>
          <a:xfrm>
            <a:off x="637200" y="3760000"/>
            <a:ext cx="620000" cy="620000"/>
          </a:xfrm>
          <a:prstGeom prst="ellipse">
            <a:avLst/>
          </a:prstGeom>
          <a:solidFill>
            <a:srgbClr val="1F497D"/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2000" b="1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110" name="Txt2"/>
          <p:cNvSpPr txBox="1"/>
          <p:nvPr/>
        </p:nvSpPr>
        <p:spPr>
          <a:xfrm>
            <a:off x="1480000" y="3580000"/>
            <a:ext cx="5560000" cy="980000"/>
          </a:xfrm>
          <a:prstGeom prst="rect">
            <a:avLst/>
          </a:prstGeom>
          <a:noFill/>
        </p:spPr>
        <p:txBody>
          <a:bodyPr wrap="square" lIns="120000" tIns="60000" rIns="120000" bIns="60000" anchor="ctr"/>
          <a:lstStyle/>
          <a:p>
            <a:r>
              <a:rPr lang="en-US" sz="1600" b="1">
                <a:solidFill>
                  <a:srgbClr val="1F497D"/>
                </a:solidFill>
              </a:rPr>
              <a:t>Convert the goal into monthly milestones</a:t>
            </a:r>
          </a:p>
          <a:p>
            <a:pPr>
              <a:spcBef>
                <a:spcPts val="300"/>
              </a:spcBef>
            </a:pPr>
            <a:r>
              <a:rPr lang="en-US" sz="1250">
                <a:solidFill>
                  <a:srgbClr val="404040"/>
                </a:solidFill>
              </a:rPr>
              <a:t>Roughly ₹4.2 lakh a month, weighted for season and reviewed on the dashboard.</a:t>
            </a:r>
          </a:p>
        </p:txBody>
      </p:sp>
      <p:sp>
        <p:nvSpPr>
          <p:cNvPr id="111" name="Chip2"/>
          <p:cNvSpPr/>
          <p:nvPr/>
        </p:nvSpPr>
        <p:spPr>
          <a:xfrm>
            <a:off x="7150000" y="3890000"/>
            <a:ext cx="1380000" cy="380000"/>
          </a:xfrm>
          <a:prstGeom prst="roundRect">
            <a:avLst>
              <a:gd name="adj" fmla="val 30000"/>
            </a:avLst>
          </a:prstGeom>
          <a:solidFill>
            <a:srgbClr val="F79646"/>
          </a:solidFill>
          <a:ln>
            <a:noFill/>
          </a:ln>
        </p:spPr>
        <p:txBody>
          <a:bodyPr wrap="square" lIns="40000" tIns="0" rIns="40000" bIns="0" anchor="ctr"/>
          <a:lstStyle/>
          <a:p>
            <a:pPr algn="ctr"/>
            <a:r>
              <a:rPr lang="en-US" sz="1100" b="1">
                <a:solidFill>
                  <a:srgbClr val="FFFFFF"/>
                </a:solidFill>
              </a:rPr>
              <a:t>SEASONALITY</a:t>
            </a:r>
          </a:p>
        </p:txBody>
      </p:sp>
      <p:sp>
        <p:nvSpPr>
          <p:cNvPr id="112" name="Card3"/>
          <p:cNvSpPr/>
          <p:nvPr/>
        </p:nvSpPr>
        <p:spPr>
          <a:xfrm>
            <a:off x="457200" y="4620000"/>
            <a:ext cx="8229600" cy="9800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3" name="Badge3"/>
          <p:cNvSpPr/>
          <p:nvPr/>
        </p:nvSpPr>
        <p:spPr>
          <a:xfrm>
            <a:off x="637200" y="4800000"/>
            <a:ext cx="620000" cy="620000"/>
          </a:xfrm>
          <a:prstGeom prst="ellipse">
            <a:avLst/>
          </a:prstGeom>
          <a:solidFill>
            <a:srgbClr val="1F497D"/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2000" b="1">
                <a:solidFill>
                  <a:srgbClr val="FFFFFF"/>
                </a:solidFill>
              </a:rPr>
              <a:t>9</a:t>
            </a:r>
          </a:p>
        </p:txBody>
      </p:sp>
      <p:sp>
        <p:nvSpPr>
          <p:cNvPr id="114" name="Txt3"/>
          <p:cNvSpPr txBox="1"/>
          <p:nvPr/>
        </p:nvSpPr>
        <p:spPr>
          <a:xfrm>
            <a:off x="1480000" y="4620000"/>
            <a:ext cx="5560000" cy="980000"/>
          </a:xfrm>
          <a:prstGeom prst="rect">
            <a:avLst/>
          </a:prstGeom>
          <a:noFill/>
        </p:spPr>
        <p:txBody>
          <a:bodyPr wrap="square" lIns="120000" tIns="60000" rIns="120000" bIns="60000" anchor="ctr"/>
          <a:lstStyle/>
          <a:p>
            <a:r>
              <a:rPr lang="en-US" sz="1600" b="1">
                <a:solidFill>
                  <a:srgbClr val="1F497D"/>
                </a:solidFill>
              </a:rPr>
              <a:t>Introduce bundles and premium tiers</a:t>
            </a:r>
          </a:p>
          <a:p>
            <a:pPr>
              <a:spcBef>
                <a:spcPts val="300"/>
              </a:spcBef>
            </a:pPr>
            <a:r>
              <a:rPr lang="en-US" sz="1250">
                <a:solidFill>
                  <a:srgbClr val="404040"/>
                </a:solidFill>
              </a:rPr>
              <a:t>Towel sets and GSM tiers lift average order value without blanket discounts.</a:t>
            </a:r>
          </a:p>
        </p:txBody>
      </p:sp>
      <p:sp>
        <p:nvSpPr>
          <p:cNvPr id="115" name="Chip3"/>
          <p:cNvSpPr/>
          <p:nvPr/>
        </p:nvSpPr>
        <p:spPr>
          <a:xfrm>
            <a:off x="7150000" y="4930000"/>
            <a:ext cx="1380000" cy="380000"/>
          </a:xfrm>
          <a:prstGeom prst="roundRect">
            <a:avLst>
              <a:gd name="adj" fmla="val 30000"/>
            </a:avLst>
          </a:prstGeom>
          <a:solidFill>
            <a:srgbClr val="9BBB59"/>
          </a:solidFill>
          <a:ln>
            <a:noFill/>
          </a:ln>
        </p:spPr>
        <p:txBody>
          <a:bodyPr wrap="square" lIns="40000" tIns="0" rIns="40000" bIns="0" anchor="ctr"/>
          <a:lstStyle/>
          <a:p>
            <a:pPr algn="ctr"/>
            <a:r>
              <a:rPr lang="en-US" sz="1100" b="1">
                <a:solidFill>
                  <a:srgbClr val="FFFFFF"/>
                </a:solidFill>
              </a:rPr>
              <a:t>PRICING</a:t>
            </a:r>
          </a:p>
        </p:txBody>
      </p:sp>
      <p:sp>
        <p:nvSpPr>
          <p:cNvPr id="116" name="Card4"/>
          <p:cNvSpPr/>
          <p:nvPr/>
        </p:nvSpPr>
        <p:spPr>
          <a:xfrm>
            <a:off x="457200" y="5660000"/>
            <a:ext cx="8229600" cy="9800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7" name="Badge4"/>
          <p:cNvSpPr/>
          <p:nvPr/>
        </p:nvSpPr>
        <p:spPr>
          <a:xfrm>
            <a:off x="637200" y="5840000"/>
            <a:ext cx="620000" cy="620000"/>
          </a:xfrm>
          <a:prstGeom prst="ellipse">
            <a:avLst/>
          </a:prstGeom>
          <a:solidFill>
            <a:srgbClr val="1F497D"/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2000" b="1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118" name="Txt4"/>
          <p:cNvSpPr txBox="1"/>
          <p:nvPr/>
        </p:nvSpPr>
        <p:spPr>
          <a:xfrm>
            <a:off x="1480000" y="5660000"/>
            <a:ext cx="5560000" cy="980000"/>
          </a:xfrm>
          <a:prstGeom prst="rect">
            <a:avLst/>
          </a:prstGeom>
          <a:noFill/>
        </p:spPr>
        <p:txBody>
          <a:bodyPr wrap="square" lIns="120000" tIns="60000" rIns="120000" bIns="60000" anchor="ctr"/>
          <a:lstStyle/>
          <a:p>
            <a:r>
              <a:rPr lang="en-US" sz="1600" b="1">
                <a:solidFill>
                  <a:srgbClr val="1F497D"/>
                </a:solidFill>
              </a:rPr>
              <a:t>Move big accounts to volume pricing</a:t>
            </a:r>
          </a:p>
          <a:p>
            <a:pPr>
              <a:spcBef>
                <a:spcPts val="300"/>
              </a:spcBef>
            </a:pPr>
            <a:r>
              <a:rPr lang="en-US" sz="1250">
                <a:solidFill>
                  <a:srgbClr val="404040"/>
                </a:solidFill>
              </a:rPr>
              <a:t>Tier-based rates grow ticket size and loyalty while protecting margin.</a:t>
            </a:r>
          </a:p>
        </p:txBody>
      </p:sp>
      <p:sp>
        <p:nvSpPr>
          <p:cNvPr id="119" name="Chip4"/>
          <p:cNvSpPr/>
          <p:nvPr/>
        </p:nvSpPr>
        <p:spPr>
          <a:xfrm>
            <a:off x="7150000" y="5970000"/>
            <a:ext cx="1380000" cy="380000"/>
          </a:xfrm>
          <a:prstGeom prst="roundRect">
            <a:avLst>
              <a:gd name="adj" fmla="val 30000"/>
            </a:avLst>
          </a:prstGeom>
          <a:solidFill>
            <a:srgbClr val="9BBB59"/>
          </a:solidFill>
          <a:ln>
            <a:noFill/>
          </a:ln>
        </p:spPr>
        <p:txBody>
          <a:bodyPr wrap="square" lIns="40000" tIns="0" rIns="40000" bIns="0" anchor="ctr"/>
          <a:lstStyle/>
          <a:p>
            <a:pPr algn="ctr"/>
            <a:r>
              <a:rPr lang="en-US" sz="1100" b="1">
                <a:solidFill>
                  <a:srgbClr val="FFFFFF"/>
                </a:solidFill>
              </a:rPr>
              <a:t>PRICING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Square"/>
          <p:cNvSpPr/>
          <p:nvPr/>
        </p:nvSpPr>
        <p:spPr>
          <a:xfrm>
            <a:off x="457200" y="470000"/>
            <a:ext cx="140000" cy="140000"/>
          </a:xfrm>
          <a:prstGeom prst="rect">
            <a:avLst/>
          </a:prstGeom>
          <a:solidFill>
            <a:srgbClr val="4BACC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" name="Title"/>
          <p:cNvSpPr txBox="1"/>
          <p:nvPr/>
        </p:nvSpPr>
        <p:spPr>
          <a:xfrm>
            <a:off x="700000" y="380000"/>
            <a:ext cx="8000000" cy="62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2800" b="1">
                <a:solidFill>
                  <a:srgbClr val="1F497D"/>
                </a:solidFill>
              </a:rPr>
              <a:t>FY 2026-27: Quarterly Path to ₹50 Lakhs</a:t>
            </a:r>
          </a:p>
        </p:txBody>
      </p:sp>
      <p:sp>
        <p:nvSpPr>
          <p:cNvPr id="22" name="Sub"/>
          <p:cNvSpPr txBox="1"/>
          <p:nvPr/>
        </p:nvSpPr>
        <p:spPr>
          <a:xfrm>
            <a:off x="700000" y="1030000"/>
            <a:ext cx="8000000" cy="38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1400">
                <a:solidFill>
                  <a:srgbClr val="595959"/>
                </a:solidFill>
              </a:rPr>
              <a:t>Phased so the year builds toward the goal, peaking in season.</a:t>
            </a:r>
          </a:p>
        </p:txBody>
      </p:sp>
      <p:sp>
        <p:nvSpPr>
          <p:cNvPr id="50" name="Card0"/>
          <p:cNvSpPr/>
          <p:nvPr/>
        </p:nvSpPr>
        <p:spPr>
          <a:xfrm>
            <a:off x="457200" y="1620000"/>
            <a:ext cx="1922400" cy="3560000"/>
          </a:xfrm>
          <a:prstGeom prst="rect">
            <a:avLst/>
          </a:prstGeom>
          <a:solidFill>
            <a:srgbClr val="F2F6FC"/>
          </a:solidFill>
          <a:ln w="9525">
            <a:solidFill>
              <a:srgbClr val="D2DCE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1" name="Hdr0"/>
          <p:cNvSpPr/>
          <p:nvPr/>
        </p:nvSpPr>
        <p:spPr>
          <a:xfrm>
            <a:off x="457200" y="1620000"/>
            <a:ext cx="1922400" cy="860000"/>
          </a:xfrm>
          <a:prstGeom prst="rect">
            <a:avLst/>
          </a:prstGeom>
          <a:solidFill>
            <a:srgbClr val="17345E"/>
          </a:solidFill>
          <a:ln>
            <a:noFill/>
          </a:ln>
        </p:spPr>
        <p:txBody>
          <a:bodyPr wrap="square" lIns="140000" tIns="110000" rIns="100000" bIns="80000" anchor="ctr"/>
          <a:lstStyle/>
          <a:p>
            <a:r>
              <a:rPr lang="en-US" sz="2000" b="1">
                <a:solidFill>
                  <a:srgbClr val="FFFFFF"/>
                </a:solidFill>
              </a:rPr>
              <a:t>Q1</a:t>
            </a:r>
          </a:p>
          <a:p>
            <a:r>
              <a:rPr lang="en-US" sz="1200">
                <a:solidFill>
                  <a:srgbClr val="C6D9F0"/>
                </a:solidFill>
              </a:rPr>
              <a:t>Foundations</a:t>
            </a:r>
          </a:p>
        </p:txBody>
      </p:sp>
      <p:sp>
        <p:nvSpPr>
          <p:cNvPr id="52" name="Tgt0"/>
          <p:cNvSpPr txBox="1"/>
          <p:nvPr/>
        </p:nvSpPr>
        <p:spPr>
          <a:xfrm>
            <a:off x="457200" y="2570000"/>
            <a:ext cx="1922400" cy="560000"/>
          </a:xfrm>
          <a:prstGeom prst="rect">
            <a:avLst/>
          </a:prstGeom>
          <a:noFill/>
        </p:spPr>
        <p:txBody>
          <a:bodyPr wrap="square" lIns="140000" tIns="0" rIns="100000" bIns="0" anchor="ctr"/>
          <a:lstStyle/>
          <a:p>
            <a:r>
              <a:rPr lang="en-US" sz="2600" b="1">
                <a:solidFill>
                  <a:srgbClr val="1F497D"/>
                </a:solidFill>
              </a:rPr>
              <a:t>₹11L</a:t>
            </a:r>
          </a:p>
        </p:txBody>
      </p:sp>
      <p:sp>
        <p:nvSpPr>
          <p:cNvPr id="53" name="Moves0"/>
          <p:cNvSpPr txBox="1"/>
          <p:nvPr/>
        </p:nvSpPr>
        <p:spPr>
          <a:xfrm>
            <a:off x="457200" y="3180000"/>
            <a:ext cx="1922400" cy="1960000"/>
          </a:xfrm>
          <a:prstGeom prst="rect">
            <a:avLst/>
          </a:prstGeom>
          <a:noFill/>
        </p:spPr>
        <p:txBody>
          <a:bodyPr wrap="square" lIns="140000" tIns="40000" rIns="120000" bIns="40000" anchor="t"/>
          <a:lstStyle/>
          <a:p>
            <a:pPr marL="180000" indent="-180000">
              <a:spcBef>
                <a:spcPts val="500"/>
              </a:spcBef>
              <a:buFont typeface="Arial"/>
              <a:buChar char="–"/>
            </a:pPr>
            <a:r>
              <a:rPr lang="en-US" sz="1150">
                <a:solidFill>
                  <a:srgbClr val="333333"/>
                </a:solidFill>
              </a:rPr>
              <a:t>Set agent &amp; customer targets</a:t>
            </a:r>
          </a:p>
          <a:p>
            <a:pPr marL="180000" indent="-180000">
              <a:spcBef>
                <a:spcPts val="500"/>
              </a:spcBef>
              <a:buFont typeface="Arial"/>
              <a:buChar char="–"/>
            </a:pPr>
            <a:r>
              <a:rPr lang="en-US" sz="1150">
                <a:solidFill>
                  <a:srgbClr val="333333"/>
                </a:solidFill>
              </a:rPr>
              <a:t>Build the seasonal calendar</a:t>
            </a:r>
          </a:p>
          <a:p>
            <a:pPr marL="180000" indent="-180000">
              <a:spcBef>
                <a:spcPts val="500"/>
              </a:spcBef>
              <a:buFont typeface="Arial"/>
              <a:buChar char="–"/>
            </a:pPr>
            <a:r>
              <a:rPr lang="en-US" sz="1150">
                <a:solidFill>
                  <a:srgbClr val="333333"/>
                </a:solidFill>
              </a:rPr>
              <a:t>Launch Key Account programme</a:t>
            </a:r>
          </a:p>
        </p:txBody>
      </p:sp>
      <p:sp>
        <p:nvSpPr>
          <p:cNvPr id="55" name="Card1"/>
          <p:cNvSpPr/>
          <p:nvPr/>
        </p:nvSpPr>
        <p:spPr>
          <a:xfrm>
            <a:off x="2559600" y="1620000"/>
            <a:ext cx="1922400" cy="3560000"/>
          </a:xfrm>
          <a:prstGeom prst="rect">
            <a:avLst/>
          </a:prstGeom>
          <a:solidFill>
            <a:srgbClr val="F2F6FC"/>
          </a:solidFill>
          <a:ln w="9525">
            <a:solidFill>
              <a:srgbClr val="D2DCE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6" name="Hdr1"/>
          <p:cNvSpPr/>
          <p:nvPr/>
        </p:nvSpPr>
        <p:spPr>
          <a:xfrm>
            <a:off x="2559600" y="1620000"/>
            <a:ext cx="1922400" cy="8600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txBody>
          <a:bodyPr wrap="square" lIns="140000" tIns="110000" rIns="100000" bIns="80000" anchor="ctr"/>
          <a:lstStyle/>
          <a:p>
            <a:r>
              <a:rPr lang="en-US" sz="2000" b="1">
                <a:solidFill>
                  <a:srgbClr val="FFFFFF"/>
                </a:solidFill>
              </a:rPr>
              <a:t>Q2</a:t>
            </a:r>
          </a:p>
          <a:p>
            <a:r>
              <a:rPr lang="en-US" sz="1200">
                <a:solidFill>
                  <a:srgbClr val="C6D9F0"/>
                </a:solidFill>
              </a:rPr>
              <a:t>Activation</a:t>
            </a:r>
          </a:p>
        </p:txBody>
      </p:sp>
      <p:sp>
        <p:nvSpPr>
          <p:cNvPr id="57" name="Tgt1"/>
          <p:cNvSpPr txBox="1"/>
          <p:nvPr/>
        </p:nvSpPr>
        <p:spPr>
          <a:xfrm>
            <a:off x="2559600" y="2570000"/>
            <a:ext cx="1922400" cy="560000"/>
          </a:xfrm>
          <a:prstGeom prst="rect">
            <a:avLst/>
          </a:prstGeom>
          <a:noFill/>
        </p:spPr>
        <p:txBody>
          <a:bodyPr wrap="square" lIns="140000" tIns="0" rIns="100000" bIns="0" anchor="ctr"/>
          <a:lstStyle/>
          <a:p>
            <a:r>
              <a:rPr lang="en-US" sz="2600" b="1">
                <a:solidFill>
                  <a:srgbClr val="1F497D"/>
                </a:solidFill>
              </a:rPr>
              <a:t>₹12L</a:t>
            </a:r>
          </a:p>
        </p:txBody>
      </p:sp>
      <p:sp>
        <p:nvSpPr>
          <p:cNvPr id="58" name="Moves1"/>
          <p:cNvSpPr txBox="1"/>
          <p:nvPr/>
        </p:nvSpPr>
        <p:spPr>
          <a:xfrm>
            <a:off x="2559600" y="3180000"/>
            <a:ext cx="1922400" cy="1960000"/>
          </a:xfrm>
          <a:prstGeom prst="rect">
            <a:avLst/>
          </a:prstGeom>
          <a:noFill/>
        </p:spPr>
        <p:txBody>
          <a:bodyPr wrap="square" lIns="140000" tIns="40000" rIns="120000" bIns="40000" anchor="t"/>
          <a:lstStyle/>
          <a:p>
            <a:pPr marL="180000" indent="-180000">
              <a:spcBef>
                <a:spcPts val="500"/>
              </a:spcBef>
              <a:buFont typeface="Arial"/>
              <a:buChar char="–"/>
            </a:pPr>
            <a:r>
              <a:rPr lang="en-US" sz="1150">
                <a:solidFill>
                  <a:srgbClr val="333333"/>
                </a:solidFill>
              </a:rPr>
              <a:t>Run the win-back campaign</a:t>
            </a:r>
          </a:p>
          <a:p>
            <a:pPr marL="180000" indent="-180000">
              <a:spcBef>
                <a:spcPts val="500"/>
              </a:spcBef>
              <a:buFont typeface="Arial"/>
              <a:buChar char="–"/>
            </a:pPr>
            <a:r>
              <a:rPr lang="en-US" sz="1150">
                <a:solidFill>
                  <a:srgbClr val="333333"/>
                </a:solidFill>
              </a:rPr>
              <a:t>Bundles &amp; premium tiers go live</a:t>
            </a:r>
          </a:p>
          <a:p>
            <a:pPr marL="180000" indent="-180000">
              <a:spcBef>
                <a:spcPts val="500"/>
              </a:spcBef>
              <a:buFont typeface="Arial"/>
              <a:buChar char="–"/>
            </a:pPr>
            <a:r>
              <a:rPr lang="en-US" sz="1150">
                <a:solidFill>
                  <a:srgbClr val="333333"/>
                </a:solidFill>
              </a:rPr>
              <a:t>Start the new incentive scheme</a:t>
            </a:r>
          </a:p>
        </p:txBody>
      </p:sp>
      <p:sp>
        <p:nvSpPr>
          <p:cNvPr id="60" name="Card2"/>
          <p:cNvSpPr/>
          <p:nvPr/>
        </p:nvSpPr>
        <p:spPr>
          <a:xfrm>
            <a:off x="4662000" y="1620000"/>
            <a:ext cx="1922400" cy="3560000"/>
          </a:xfrm>
          <a:prstGeom prst="rect">
            <a:avLst/>
          </a:prstGeom>
          <a:solidFill>
            <a:srgbClr val="F2F6FC"/>
          </a:solidFill>
          <a:ln w="9525">
            <a:solidFill>
              <a:srgbClr val="D2DCE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1" name="Hdr2"/>
          <p:cNvSpPr/>
          <p:nvPr/>
        </p:nvSpPr>
        <p:spPr>
          <a:xfrm>
            <a:off x="4662000" y="1620000"/>
            <a:ext cx="1922400" cy="86000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txBody>
          <a:bodyPr wrap="square" lIns="140000" tIns="110000" rIns="100000" bIns="80000" anchor="ctr"/>
          <a:lstStyle/>
          <a:p>
            <a:r>
              <a:rPr lang="en-US" sz="2000" b="1">
                <a:solidFill>
                  <a:srgbClr val="FFFFFF"/>
                </a:solidFill>
              </a:rPr>
              <a:t>Q3</a:t>
            </a:r>
          </a:p>
          <a:p>
            <a:r>
              <a:rPr lang="en-US" sz="1200">
                <a:solidFill>
                  <a:srgbClr val="C6D9F0"/>
                </a:solidFill>
              </a:rPr>
              <a:t>Peak Capture</a:t>
            </a:r>
          </a:p>
        </p:txBody>
      </p:sp>
      <p:sp>
        <p:nvSpPr>
          <p:cNvPr id="62" name="Tgt2"/>
          <p:cNvSpPr txBox="1"/>
          <p:nvPr/>
        </p:nvSpPr>
        <p:spPr>
          <a:xfrm>
            <a:off x="4662000" y="2570000"/>
            <a:ext cx="1922400" cy="560000"/>
          </a:xfrm>
          <a:prstGeom prst="rect">
            <a:avLst/>
          </a:prstGeom>
          <a:noFill/>
        </p:spPr>
        <p:txBody>
          <a:bodyPr wrap="square" lIns="140000" tIns="0" rIns="100000" bIns="0" anchor="ctr"/>
          <a:lstStyle/>
          <a:p>
            <a:r>
              <a:rPr lang="en-US" sz="2600" b="1">
                <a:solidFill>
                  <a:srgbClr val="1F497D"/>
                </a:solidFill>
              </a:rPr>
              <a:t>₹15L</a:t>
            </a:r>
          </a:p>
        </p:txBody>
      </p:sp>
      <p:sp>
        <p:nvSpPr>
          <p:cNvPr id="63" name="Moves2"/>
          <p:cNvSpPr txBox="1"/>
          <p:nvPr/>
        </p:nvSpPr>
        <p:spPr>
          <a:xfrm>
            <a:off x="4662000" y="3180000"/>
            <a:ext cx="1922400" cy="1960000"/>
          </a:xfrm>
          <a:prstGeom prst="rect">
            <a:avLst/>
          </a:prstGeom>
          <a:noFill/>
        </p:spPr>
        <p:txBody>
          <a:bodyPr wrap="square" lIns="140000" tIns="40000" rIns="120000" bIns="40000" anchor="t"/>
          <a:lstStyle/>
          <a:p>
            <a:pPr marL="180000" indent="-180000">
              <a:spcBef>
                <a:spcPts val="500"/>
              </a:spcBef>
              <a:buFont typeface="Arial"/>
              <a:buChar char="–"/>
            </a:pPr>
            <a:r>
              <a:rPr lang="en-US" sz="1150">
                <a:solidFill>
                  <a:srgbClr val="333333"/>
                </a:solidFill>
              </a:rPr>
              <a:t>Pre-stock &amp; push peak season</a:t>
            </a:r>
          </a:p>
          <a:p>
            <a:pPr marL="180000" indent="-180000">
              <a:spcBef>
                <a:spcPts val="500"/>
              </a:spcBef>
              <a:buFont typeface="Arial"/>
              <a:buChar char="–"/>
            </a:pPr>
            <a:r>
              <a:rPr lang="en-US" sz="1150">
                <a:solidFill>
                  <a:srgbClr val="333333"/>
                </a:solidFill>
              </a:rPr>
              <a:t>Weekly sales leaderboard</a:t>
            </a:r>
          </a:p>
          <a:p>
            <a:pPr marL="180000" indent="-180000">
              <a:spcBef>
                <a:spcPts val="500"/>
              </a:spcBef>
              <a:buFont typeface="Arial"/>
              <a:buChar char="–"/>
            </a:pPr>
            <a:r>
              <a:rPr lang="en-US" sz="1150">
                <a:solidFill>
                  <a:srgbClr val="333333"/>
                </a:solidFill>
              </a:rPr>
              <a:t>Reactivate large accounts</a:t>
            </a:r>
          </a:p>
        </p:txBody>
      </p:sp>
      <p:sp>
        <p:nvSpPr>
          <p:cNvPr id="65" name="Card3"/>
          <p:cNvSpPr/>
          <p:nvPr/>
        </p:nvSpPr>
        <p:spPr>
          <a:xfrm>
            <a:off x="6764400" y="1620000"/>
            <a:ext cx="1922400" cy="3560000"/>
          </a:xfrm>
          <a:prstGeom prst="rect">
            <a:avLst/>
          </a:prstGeom>
          <a:solidFill>
            <a:srgbClr val="F2F6FC"/>
          </a:solidFill>
          <a:ln w="9525">
            <a:solidFill>
              <a:srgbClr val="D2DCE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6" name="Hdr3"/>
          <p:cNvSpPr/>
          <p:nvPr/>
        </p:nvSpPr>
        <p:spPr>
          <a:xfrm>
            <a:off x="6764400" y="1620000"/>
            <a:ext cx="1922400" cy="860000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txBody>
          <a:bodyPr wrap="square" lIns="140000" tIns="110000" rIns="100000" bIns="80000" anchor="ctr"/>
          <a:lstStyle/>
          <a:p>
            <a:r>
              <a:rPr lang="en-US" sz="2000" b="1">
                <a:solidFill>
                  <a:srgbClr val="FFFFFF"/>
                </a:solidFill>
              </a:rPr>
              <a:t>Q4</a:t>
            </a:r>
          </a:p>
          <a:p>
            <a:r>
              <a:rPr lang="en-US" sz="1200">
                <a:solidFill>
                  <a:srgbClr val="C6D9F0"/>
                </a:solidFill>
              </a:rPr>
              <a:t>Consolidation</a:t>
            </a:r>
          </a:p>
        </p:txBody>
      </p:sp>
      <p:sp>
        <p:nvSpPr>
          <p:cNvPr id="67" name="Tgt3"/>
          <p:cNvSpPr txBox="1"/>
          <p:nvPr/>
        </p:nvSpPr>
        <p:spPr>
          <a:xfrm>
            <a:off x="6764400" y="2570000"/>
            <a:ext cx="1922400" cy="560000"/>
          </a:xfrm>
          <a:prstGeom prst="rect">
            <a:avLst/>
          </a:prstGeom>
          <a:noFill/>
        </p:spPr>
        <p:txBody>
          <a:bodyPr wrap="square" lIns="140000" tIns="0" rIns="100000" bIns="0" anchor="ctr"/>
          <a:lstStyle/>
          <a:p>
            <a:r>
              <a:rPr lang="en-US" sz="2600" b="1">
                <a:solidFill>
                  <a:srgbClr val="1F497D"/>
                </a:solidFill>
              </a:rPr>
              <a:t>₹12L</a:t>
            </a:r>
          </a:p>
        </p:txBody>
      </p:sp>
      <p:sp>
        <p:nvSpPr>
          <p:cNvPr id="68" name="Moves3"/>
          <p:cNvSpPr txBox="1"/>
          <p:nvPr/>
        </p:nvSpPr>
        <p:spPr>
          <a:xfrm>
            <a:off x="6764400" y="3180000"/>
            <a:ext cx="1922400" cy="1960000"/>
          </a:xfrm>
          <a:prstGeom prst="rect">
            <a:avLst/>
          </a:prstGeom>
          <a:noFill/>
        </p:spPr>
        <p:txBody>
          <a:bodyPr wrap="square" lIns="140000" tIns="40000" rIns="120000" bIns="40000" anchor="t"/>
          <a:lstStyle/>
          <a:p>
            <a:pPr marL="180000" indent="-180000">
              <a:spcBef>
                <a:spcPts val="500"/>
              </a:spcBef>
              <a:buFont typeface="Arial"/>
              <a:buChar char="–"/>
            </a:pPr>
            <a:r>
              <a:rPr lang="en-US" sz="1150">
                <a:solidFill>
                  <a:srgbClr val="333333"/>
                </a:solidFill>
              </a:rPr>
              <a:t>Volume pricing for big accounts</a:t>
            </a:r>
          </a:p>
          <a:p>
            <a:pPr marL="180000" indent="-180000">
              <a:spcBef>
                <a:spcPts val="500"/>
              </a:spcBef>
              <a:buFont typeface="Arial"/>
              <a:buChar char="–"/>
            </a:pPr>
            <a:r>
              <a:rPr lang="en-US" sz="1150">
                <a:solidFill>
                  <a:srgbClr val="333333"/>
                </a:solidFill>
              </a:rPr>
              <a:t>Close the gaps to target</a:t>
            </a:r>
          </a:p>
          <a:p>
            <a:pPr marL="180000" indent="-180000">
              <a:spcBef>
                <a:spcPts val="500"/>
              </a:spcBef>
              <a:buFont typeface="Arial"/>
              <a:buChar char="–"/>
            </a:pPr>
            <a:r>
              <a:rPr lang="en-US" sz="1150">
                <a:solidFill>
                  <a:srgbClr val="333333"/>
                </a:solidFill>
              </a:rPr>
              <a:t>Plan the next year</a:t>
            </a:r>
          </a:p>
        </p:txBody>
      </p:sp>
      <p:sp>
        <p:nvSpPr>
          <p:cNvPr id="80" name="SumBand"/>
          <p:cNvSpPr/>
          <p:nvPr/>
        </p:nvSpPr>
        <p:spPr>
          <a:xfrm>
            <a:off x="457200" y="5470000"/>
            <a:ext cx="8229600" cy="720000"/>
          </a:xfrm>
          <a:prstGeom prst="rect">
            <a:avLst/>
          </a:prstGeom>
          <a:solidFill>
            <a:srgbClr val="173A63"/>
          </a:solidFill>
          <a:ln>
            <a:noFill/>
          </a:ln>
        </p:spPr>
        <p:txBody>
          <a:bodyPr wrap="square" lIns="200000" tIns="0" rIns="200000" bIns="0" anchor="ctr"/>
          <a:lstStyle/>
          <a:p>
            <a:pPr algn="ctr"/>
            <a:r>
              <a:rPr lang="en-US" sz="1500" b="1">
                <a:solidFill>
                  <a:srgbClr val="9DC3E6"/>
                </a:solidFill>
              </a:rPr>
              <a:t>CUMULATIVE PATH   </a:t>
            </a:r>
            <a:r>
              <a:rPr lang="en-US" sz="1500" b="1">
                <a:solidFill>
                  <a:srgbClr val="FFFFFF"/>
                </a:solidFill>
              </a:rPr>
              <a:t>₹11L  →  ₹23L  →  ₹38L  →  ₹50L</a:t>
            </a:r>
          </a:p>
        </p:txBody>
      </p:sp>
      <p:sp>
        <p:nvSpPr>
          <p:cNvPr id="81" name="Note"/>
          <p:cNvSpPr txBox="1"/>
          <p:nvPr/>
        </p:nvSpPr>
        <p:spPr>
          <a:xfrm>
            <a:off x="457200" y="6280000"/>
            <a:ext cx="8229600" cy="3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lang="en-US" sz="1050" i="1">
                <a:solidFill>
                  <a:srgbClr val="7F7F7F"/>
                </a:solidFill>
              </a:rPr>
              <a:t>Quarterly targets illustrative; weighted higher in peak season.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G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Eyebrow"/>
          <p:cNvSpPr txBox="1"/>
          <p:nvPr/>
        </p:nvSpPr>
        <p:spPr>
          <a:xfrm>
            <a:off x="686000" y="640000"/>
            <a:ext cx="7772000" cy="4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1400" b="1" spc="300">
                <a:solidFill>
                  <a:srgbClr val="9DC3E6"/>
                </a:solidFill>
              </a:rPr>
              <a:t>FROM HISTORY TO TARGET</a:t>
            </a:r>
          </a:p>
        </p:txBody>
      </p:sp>
      <p:sp>
        <p:nvSpPr>
          <p:cNvPr id="12" name="Title"/>
          <p:cNvSpPr txBox="1"/>
          <p:nvPr/>
        </p:nvSpPr>
        <p:spPr>
          <a:xfrm>
            <a:off x="686000" y="1120000"/>
            <a:ext cx="7772000" cy="145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3800" b="1">
                <a:solidFill>
                  <a:srgbClr val="FFFFFF"/>
                </a:solidFill>
              </a:rPr>
              <a:t>₹1.82 Cr Behind Us. ₹50 Lakhs Ahead.</a:t>
            </a:r>
          </a:p>
        </p:txBody>
      </p:sp>
      <p:sp>
        <p:nvSpPr>
          <p:cNvPr id="13" name="Pill1"/>
          <p:cNvSpPr/>
          <p:nvPr/>
        </p:nvSpPr>
        <p:spPr>
          <a:xfrm>
            <a:off x="686000" y="2820000"/>
            <a:ext cx="2700000" cy="560000"/>
          </a:xfrm>
          <a:prstGeom prst="roundRect">
            <a:avLst>
              <a:gd name="adj" fmla="val 50000"/>
            </a:avLst>
          </a:prstGeom>
          <a:solidFill>
            <a:srgbClr val="4BACC6"/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1600" b="1">
                <a:solidFill>
                  <a:srgbClr val="FFFFFF"/>
                </a:solidFill>
              </a:rPr>
              <a:t>Grow Volume</a:t>
            </a:r>
          </a:p>
        </p:txBody>
      </p:sp>
      <p:sp>
        <p:nvSpPr>
          <p:cNvPr id="14" name="Pill2"/>
          <p:cNvSpPr/>
          <p:nvPr/>
        </p:nvSpPr>
        <p:spPr>
          <a:xfrm>
            <a:off x="3586000" y="2820000"/>
            <a:ext cx="2700000" cy="560000"/>
          </a:xfrm>
          <a:prstGeom prst="roundRect">
            <a:avLst>
              <a:gd name="adj" fmla="val 50000"/>
            </a:avLst>
          </a:prstGeom>
          <a:solidFill>
            <a:srgbClr val="9BBB59"/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1600" b="1">
                <a:solidFill>
                  <a:srgbClr val="FFFFFF"/>
                </a:solidFill>
              </a:rPr>
              <a:t>Grow Value</a:t>
            </a:r>
          </a:p>
        </p:txBody>
      </p:sp>
      <p:sp>
        <p:nvSpPr>
          <p:cNvPr id="15" name="FirstLabel"/>
          <p:cNvSpPr txBox="1"/>
          <p:nvPr/>
        </p:nvSpPr>
        <p:spPr>
          <a:xfrm>
            <a:off x="686000" y="3680000"/>
            <a:ext cx="7772000" cy="36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1500" b="1" spc="200">
                <a:solidFill>
                  <a:srgbClr val="9DC3E6"/>
                </a:solidFill>
              </a:rPr>
              <a:t>THE FIRST 30 DAYS</a:t>
            </a:r>
          </a:p>
        </p:txBody>
      </p:sp>
      <p:sp>
        <p:nvSpPr>
          <p:cNvPr id="20" name="Step1"/>
          <p:cNvSpPr/>
          <p:nvPr/>
        </p:nvSpPr>
        <p:spPr>
          <a:xfrm>
            <a:off x="686000" y="4120000"/>
            <a:ext cx="2457000" cy="1700000"/>
          </a:xfrm>
          <a:prstGeom prst="rect">
            <a:avLst/>
          </a:prstGeom>
          <a:solidFill>
            <a:srgbClr val="173A63"/>
          </a:solidFill>
          <a:ln>
            <a:noFill/>
          </a:ln>
        </p:spPr>
        <p:txBody>
          <a:bodyPr wrap="square" lIns="180000" tIns="160000" rIns="180000" bIns="160000" anchor="t"/>
          <a:lstStyle/>
          <a:p>
            <a:r>
              <a:rPr lang="en-US" sz="2400" b="1">
                <a:solidFill>
                  <a:srgbClr val="4BACC6"/>
                </a:solidFill>
              </a:rPr>
              <a:t>1</a:t>
            </a:r>
          </a:p>
          <a:p>
            <a:pPr>
              <a:spcBef>
                <a:spcPts val="500"/>
              </a:spcBef>
            </a:pPr>
            <a:r>
              <a:rPr lang="en-US" sz="1400">
                <a:solidFill>
                  <a:srgbClr val="FFFFFF"/>
                </a:solidFill>
              </a:rPr>
              <a:t>Set per-agent ₹ targets and a monthly leaderboard.</a:t>
            </a:r>
          </a:p>
        </p:txBody>
      </p:sp>
      <p:sp>
        <p:nvSpPr>
          <p:cNvPr id="21" name="Step2"/>
          <p:cNvSpPr/>
          <p:nvPr/>
        </p:nvSpPr>
        <p:spPr>
          <a:xfrm>
            <a:off x="3343500" y="4120000"/>
            <a:ext cx="2457000" cy="1700000"/>
          </a:xfrm>
          <a:prstGeom prst="rect">
            <a:avLst/>
          </a:prstGeom>
          <a:solidFill>
            <a:srgbClr val="173A63"/>
          </a:solidFill>
          <a:ln>
            <a:noFill/>
          </a:ln>
        </p:spPr>
        <p:txBody>
          <a:bodyPr wrap="square" lIns="180000" tIns="160000" rIns="180000" bIns="160000" anchor="t"/>
          <a:lstStyle/>
          <a:p>
            <a:r>
              <a:rPr lang="en-US" sz="2400" b="1">
                <a:solidFill>
                  <a:srgbClr val="4BACC6"/>
                </a:solidFill>
              </a:rPr>
              <a:t>2</a:t>
            </a:r>
          </a:p>
          <a:p>
            <a:pPr>
              <a:spcBef>
                <a:spcPts val="500"/>
              </a:spcBef>
            </a:pPr>
            <a:r>
              <a:rPr lang="en-US" sz="1400">
                <a:solidFill>
                  <a:srgbClr val="FFFFFF"/>
                </a:solidFill>
              </a:rPr>
              <a:t>Launch the Top-20 Key Account programme.</a:t>
            </a:r>
          </a:p>
        </p:txBody>
      </p:sp>
      <p:sp>
        <p:nvSpPr>
          <p:cNvPr id="22" name="Step3"/>
          <p:cNvSpPr/>
          <p:nvPr/>
        </p:nvSpPr>
        <p:spPr>
          <a:xfrm>
            <a:off x="6001000" y="4120000"/>
            <a:ext cx="2457000" cy="1700000"/>
          </a:xfrm>
          <a:prstGeom prst="rect">
            <a:avLst/>
          </a:prstGeom>
          <a:solidFill>
            <a:srgbClr val="173A63"/>
          </a:solidFill>
          <a:ln>
            <a:noFill/>
          </a:ln>
        </p:spPr>
        <p:txBody>
          <a:bodyPr wrap="square" lIns="180000" tIns="160000" rIns="180000" bIns="160000" anchor="t"/>
          <a:lstStyle/>
          <a:p>
            <a:r>
              <a:rPr lang="en-US" sz="2400" b="1">
                <a:solidFill>
                  <a:srgbClr val="4BACC6"/>
                </a:solidFill>
              </a:rPr>
              <a:t>3</a:t>
            </a:r>
          </a:p>
          <a:p>
            <a:pPr>
              <a:spcBef>
                <a:spcPts val="500"/>
              </a:spcBef>
            </a:pPr>
            <a:r>
              <a:rPr lang="en-US" sz="1400">
                <a:solidFill>
                  <a:srgbClr val="FFFFFF"/>
                </a:solidFill>
              </a:rPr>
              <a:t>Build the seasonal calendar for the year ahead.</a:t>
            </a:r>
          </a:p>
        </p:txBody>
      </p:sp>
      <p:sp>
        <p:nvSpPr>
          <p:cNvPr id="30" name="Tagline"/>
          <p:cNvSpPr txBox="1"/>
          <p:nvPr/>
        </p:nvSpPr>
        <p:spPr>
          <a:xfrm>
            <a:off x="686000" y="6160000"/>
            <a:ext cx="7772000" cy="42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1500" i="1">
                <a:solidFill>
                  <a:srgbClr val="C6D9F0"/>
                </a:solidFill>
              </a:rPr>
              <a:t>Same dashboard. Sharper focus. One number to hit.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933CAAE-8ACF-63FE-36BB-E85A8A314F34}"/>
              </a:ext>
            </a:extLst>
          </p:cNvPr>
          <p:cNvSpPr txBox="1"/>
          <p:nvPr/>
        </p:nvSpPr>
        <p:spPr>
          <a:xfrm>
            <a:off x="2286000" y="2709312"/>
            <a:ext cx="58268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hlinkClick r:id="rId2"/>
              </a:rPr>
              <a:t>Sales-dashboard-2023-2026.xlsb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2217B6-3C1E-B9B0-3DDC-2F3B4EF91572}"/>
              </a:ext>
            </a:extLst>
          </p:cNvPr>
          <p:cNvSpPr txBox="1"/>
          <p:nvPr/>
        </p:nvSpPr>
        <p:spPr>
          <a:xfrm>
            <a:off x="768485" y="856034"/>
            <a:ext cx="7149830" cy="523220"/>
          </a:xfrm>
          <a:prstGeom prst="rect">
            <a:avLst/>
          </a:prstGeom>
          <a:noFill/>
        </p:spPr>
        <p:txBody>
          <a:bodyPr wrap="square" lIns="0" tIns="0" rIns="0" bIns="0" anchor="t"/>
          <a:lstStyle>
            <a:defPPr>
              <a:defRPr lang="en-US"/>
            </a:defPPr>
            <a:lvl1pPr>
              <a:defRPr sz="2800" b="1">
                <a:solidFill>
                  <a:srgbClr val="1F497D"/>
                </a:solidFill>
              </a:defRPr>
            </a:lvl1pPr>
          </a:lstStyle>
          <a:p>
            <a:r>
              <a:rPr lang="en-US" dirty="0"/>
              <a:t>Interactive Dashboard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588705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645</TotalTime>
  <Words>1138</Words>
  <Application>Microsoft Office PowerPoint</Application>
  <PresentationFormat>On-screen Show (4:3)</PresentationFormat>
  <Paragraphs>206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MAHESH</dc:creator>
  <cp:keywords/>
  <dc:description>generated using python-pptx</dc:description>
  <cp:lastModifiedBy>Mahesh Yangundi</cp:lastModifiedBy>
  <cp:revision>2</cp:revision>
  <dcterms:created xsi:type="dcterms:W3CDTF">2013-01-27T09:14:16Z</dcterms:created>
  <dcterms:modified xsi:type="dcterms:W3CDTF">2026-06-17T04:25:16Z</dcterms:modified>
  <cp:category/>
</cp:coreProperties>
</file>